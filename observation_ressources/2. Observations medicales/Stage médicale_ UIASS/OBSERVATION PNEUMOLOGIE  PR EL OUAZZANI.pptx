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0"/>
  </p:notesMasterIdLst>
  <p:sldIdLst>
    <p:sldId id="256" r:id="rId2"/>
    <p:sldId id="320" r:id="rId3"/>
    <p:sldId id="270" r:id="rId4"/>
    <p:sldId id="322" r:id="rId5"/>
    <p:sldId id="323" r:id="rId6"/>
    <p:sldId id="257" r:id="rId7"/>
    <p:sldId id="324" r:id="rId8"/>
    <p:sldId id="271" r:id="rId9"/>
    <p:sldId id="325" r:id="rId10"/>
    <p:sldId id="276" r:id="rId11"/>
    <p:sldId id="326" r:id="rId12"/>
    <p:sldId id="272" r:id="rId13"/>
    <p:sldId id="265" r:id="rId14"/>
    <p:sldId id="277" r:id="rId15"/>
    <p:sldId id="273" r:id="rId16"/>
    <p:sldId id="328" r:id="rId17"/>
    <p:sldId id="267" r:id="rId18"/>
    <p:sldId id="291" r:id="rId19"/>
    <p:sldId id="292" r:id="rId20"/>
    <p:sldId id="293" r:id="rId21"/>
    <p:sldId id="294" r:id="rId22"/>
    <p:sldId id="295" r:id="rId23"/>
    <p:sldId id="296" r:id="rId24"/>
    <p:sldId id="297" r:id="rId25"/>
    <p:sldId id="298" r:id="rId26"/>
    <p:sldId id="299" r:id="rId27"/>
    <p:sldId id="300" r:id="rId28"/>
    <p:sldId id="301" r:id="rId29"/>
    <p:sldId id="330" r:id="rId30"/>
    <p:sldId id="268" r:id="rId31"/>
    <p:sldId id="311" r:id="rId32"/>
    <p:sldId id="307" r:id="rId33"/>
    <p:sldId id="269" r:id="rId34"/>
    <p:sldId id="310" r:id="rId35"/>
    <p:sldId id="266" r:id="rId36"/>
    <p:sldId id="274" r:id="rId37"/>
    <p:sldId id="280" r:id="rId38"/>
    <p:sldId id="278" r:id="rId39"/>
    <p:sldId id="279" r:id="rId40"/>
    <p:sldId id="275" r:id="rId41"/>
    <p:sldId id="258" r:id="rId42"/>
    <p:sldId id="312" r:id="rId43"/>
    <p:sldId id="329" r:id="rId44"/>
    <p:sldId id="333" r:id="rId45"/>
    <p:sldId id="334" r:id="rId46"/>
    <p:sldId id="319" r:id="rId47"/>
    <p:sldId id="331" r:id="rId48"/>
    <p:sldId id="332" r:id="rId4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6DDA5D-FB98-43B0-9856-EE31D455DA31}" type="datetimeFigureOut">
              <a:rPr lang="fr-FR" smtClean="0"/>
              <a:pPr/>
              <a:t>23/09/2020</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770E0A-3813-4E21-AC1B-90BBAE96794C}"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EDC0EF-FA6D-4127-95BF-62C7056659BB}" type="slidenum">
              <a:rPr lang="fr-FR"/>
              <a:pPr/>
              <a:t>18</a:t>
            </a:fld>
            <a:endParaRPr lang="fr-FR" dirty="0"/>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fr-F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616227-E91F-4D81-AE6D-55BA710F08AB}" type="slidenum">
              <a:rPr lang="fr-FR"/>
              <a:pPr/>
              <a:t>21</a:t>
            </a:fld>
            <a:endParaRPr lang="fr-FR"/>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5D46E5-29A2-47E0-A8C3-E87E7B267D47}" type="slidenum">
              <a:rPr lang="fr-FR"/>
              <a:pPr/>
              <a:t>22</a:t>
            </a:fld>
            <a:endParaRPr lang="fr-FR"/>
          </a:p>
        </p:txBody>
      </p:sp>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C4890E-60E4-40D4-ABFD-38E43BAE375B}" type="slidenum">
              <a:rPr lang="fr-FR"/>
              <a:pPr/>
              <a:t>23</a:t>
            </a:fld>
            <a:endParaRPr lang="fr-FR"/>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4C41DE-DAFC-4C94-A750-12C0B5EB01B6}" type="slidenum">
              <a:rPr lang="fr-FR"/>
              <a:pPr/>
              <a:t>24</a:t>
            </a:fld>
            <a:endParaRPr lang="fr-FR"/>
          </a:p>
        </p:txBody>
      </p:sp>
      <p:sp>
        <p:nvSpPr>
          <p:cNvPr id="294914" name="Rectangle 2"/>
          <p:cNvSpPr>
            <a:spLocks noGrp="1" noRot="1" noChangeAspect="1" noChangeArrowheads="1" noTextEdit="1"/>
          </p:cNvSpPr>
          <p:nvPr>
            <p:ph type="sldImg"/>
          </p:nvPr>
        </p:nvSpPr>
        <p:spPr>
          <a:ln/>
        </p:spPr>
      </p:sp>
      <p:sp>
        <p:nvSpPr>
          <p:cNvPr id="29491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60A542-3C02-4C12-B6C2-F92235DAACCD}" type="slidenum">
              <a:rPr lang="fr-FR"/>
              <a:pPr/>
              <a:t>25</a:t>
            </a:fld>
            <a:endParaRPr lang="fr-FR"/>
          </a:p>
        </p:txBody>
      </p:sp>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5B67C6-650A-454A-AB80-6BC65E082315}" type="slidenum">
              <a:rPr lang="fr-FR"/>
              <a:pPr/>
              <a:t>26</a:t>
            </a:fld>
            <a:endParaRPr lang="fr-FR"/>
          </a:p>
        </p:txBody>
      </p:sp>
      <p:sp>
        <p:nvSpPr>
          <p:cNvPr id="299010" name="Rectangle 2"/>
          <p:cNvSpPr>
            <a:spLocks noGrp="1" noRot="1" noChangeAspect="1" noChangeArrowheads="1" noTextEdit="1"/>
          </p:cNvSpPr>
          <p:nvPr>
            <p:ph type="sldImg"/>
          </p:nvPr>
        </p:nvSpPr>
        <p:spPr>
          <a:ln/>
        </p:spPr>
      </p:sp>
      <p:sp>
        <p:nvSpPr>
          <p:cNvPr id="29901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53CBE5-9C36-4A8A-980B-8C98DFF37CAF}" type="slidenum">
              <a:rPr lang="fr-FR"/>
              <a:pPr/>
              <a:t>27</a:t>
            </a:fld>
            <a:endParaRPr lang="fr-FR"/>
          </a:p>
        </p:txBody>
      </p:sp>
      <p:sp>
        <p:nvSpPr>
          <p:cNvPr id="174082" name="Rectangle 2"/>
          <p:cNvSpPr>
            <a:spLocks noGrp="1" noRot="1" noChangeAspect="1" noChangeArrowheads="1" noTextEdit="1"/>
          </p:cNvSpPr>
          <p:nvPr>
            <p:ph type="sldImg"/>
          </p:nvPr>
        </p:nvSpPr>
        <p:spPr>
          <a:ln/>
        </p:spPr>
      </p:sp>
      <p:sp>
        <p:nvSpPr>
          <p:cNvPr id="1740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7B641C-F221-4B75-90F7-54D53EB02185}" type="slidenum">
              <a:rPr lang="fr-FR"/>
              <a:pPr/>
              <a:t>28</a:t>
            </a:fld>
            <a:endParaRPr lang="fr-FR"/>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737D6A-FEB3-4D9E-86C3-4003948B6630}" type="slidenum">
              <a:rPr lang="fr-FR"/>
              <a:pPr/>
              <a:t>31</a:t>
            </a:fld>
            <a:endParaRPr lang="fr-FR"/>
          </a:p>
        </p:txBody>
      </p:sp>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EE7E3E-18CD-45C9-8DA5-D523CAE14D50}" type="slidenum">
              <a:rPr lang="fr-FR"/>
              <a:pPr/>
              <a:t>32</a:t>
            </a:fld>
            <a:endParaRPr lang="fr-FR"/>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764536-7F12-4840-B383-D471E41F1ED3}" type="slidenum">
              <a:rPr lang="fr-FR"/>
              <a:pPr/>
              <a:t>34</a:t>
            </a:fld>
            <a:endParaRPr lang="fr-FR"/>
          </a:p>
        </p:txBody>
      </p:sp>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5770E0A-3813-4E21-AC1B-90BBAE96794C}" type="slidenum">
              <a:rPr lang="fr-FR" smtClean="0"/>
              <a:pPr/>
              <a:t>43</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re 7"/>
          <p:cNvSpPr>
            <a:spLocks noGrp="1"/>
          </p:cNvSpPr>
          <p:nvPr>
            <p:ph type="ctrTitle"/>
          </p:nvPr>
        </p:nvSpPr>
        <p:spPr>
          <a:xfrm>
            <a:off x="2362200" y="4038600"/>
            <a:ext cx="6477000" cy="1828800"/>
          </a:xfrm>
        </p:spPr>
        <p:txBody>
          <a:bodyPr anchor="b"/>
          <a:lstStyle>
            <a:lvl1pPr>
              <a:defRPr cap="all" baseline="0"/>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0B2ED48-EA2F-4D37-9B34-46250F142028}" type="datetimeFigureOut">
              <a:rPr lang="fr-FR" smtClean="0"/>
              <a:pPr/>
              <a:t>23/09/2020</a:t>
            </a:fld>
            <a:endParaRPr lang="fr-FR" dirty="0"/>
          </a:p>
        </p:txBody>
      </p:sp>
      <p:sp>
        <p:nvSpPr>
          <p:cNvPr id="17" name="Espace réservé du pied de page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fr-FR" dirty="0"/>
          </a:p>
        </p:txBody>
      </p:sp>
      <p:sp>
        <p:nvSpPr>
          <p:cNvPr id="29" name="Espace réservé du numéro de diapositive 28"/>
          <p:cNvSpPr>
            <a:spLocks noGrp="1"/>
          </p:cNvSpPr>
          <p:nvPr>
            <p:ph type="sldNum" sz="quarter" idx="12"/>
          </p:nvPr>
        </p:nvSpPr>
        <p:spPr>
          <a:xfrm>
            <a:off x="8001000" y="228600"/>
            <a:ext cx="838200" cy="381000"/>
          </a:xfrm>
        </p:spPr>
        <p:txBody>
          <a:bodyPr/>
          <a:lstStyle>
            <a:lvl1pPr>
              <a:defRPr>
                <a:solidFill>
                  <a:schemeClr val="tx2"/>
                </a:solidFill>
              </a:defRPr>
            </a:lvl1pPr>
          </a:lstStyle>
          <a:p>
            <a:fld id="{92048771-5193-4E32-A8FE-4BAF4EDB2DBF}" type="slidenum">
              <a:rPr lang="fr-FR" smtClean="0"/>
              <a:pPr/>
              <a:t>‹N°›</a:t>
            </a:fld>
            <a:endParaRPr lang="fr-FR"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12648" y="228600"/>
            <a:ext cx="8153400" cy="990600"/>
          </a:xfrm>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30B2ED48-EA2F-4D37-9B34-46250F142028}" type="datetimeFigureOut">
              <a:rPr lang="fr-FR" smtClean="0"/>
              <a:pPr/>
              <a:t>23/09/2020</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lvl1pPr>
              <a:defRPr>
                <a:solidFill>
                  <a:srgbClr val="FFFFFF"/>
                </a:solidFill>
              </a:defRPr>
            </a:lvl1pPr>
          </a:lstStyle>
          <a:p>
            <a:fld id="{92048771-5193-4E32-A8FE-4BAF4EDB2DBF}" type="slidenum">
              <a:rPr lang="fr-FR" smtClean="0"/>
              <a:pPr/>
              <a:t>‹N°›</a:t>
            </a:fld>
            <a:endParaRPr lang="fr-FR" dirty="0"/>
          </a:p>
        </p:txBody>
      </p:sp>
      <p:sp>
        <p:nvSpPr>
          <p:cNvPr id="8" name="Espace réservé du contenu 7"/>
          <p:cNvSpPr>
            <a:spLocks noGrp="1"/>
          </p:cNvSpPr>
          <p:nvPr>
            <p:ph sz="quarter" idx="1"/>
          </p:nvPr>
        </p:nvSpPr>
        <p:spPr>
          <a:xfrm>
            <a:off x="612648" y="1600200"/>
            <a:ext cx="8153400" cy="44958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r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fr-FR" smtClean="0"/>
              <a:t>Cliquez pour modifier le style du titre</a:t>
            </a:r>
            <a:endParaRPr kumimoji="0" lang="en-US"/>
          </a:p>
        </p:txBody>
      </p:sp>
      <p:sp>
        <p:nvSpPr>
          <p:cNvPr id="12" name="Espace réservé de la date 11"/>
          <p:cNvSpPr>
            <a:spLocks noGrp="1"/>
          </p:cNvSpPr>
          <p:nvPr>
            <p:ph type="dt" sz="half" idx="10"/>
          </p:nvPr>
        </p:nvSpPr>
        <p:spPr/>
        <p:txBody>
          <a:bodyPr/>
          <a:lstStyle/>
          <a:p>
            <a:fld id="{30B2ED48-EA2F-4D37-9B34-46250F142028}" type="datetimeFigureOut">
              <a:rPr lang="fr-FR" smtClean="0"/>
              <a:pPr/>
              <a:t>23/09/2020</a:t>
            </a:fld>
            <a:endParaRPr lang="fr-FR" dirty="0"/>
          </a:p>
        </p:txBody>
      </p:sp>
      <p:sp>
        <p:nvSpPr>
          <p:cNvPr id="13" name="Espace réservé du numéro de diapositive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2048771-5193-4E32-A8FE-4BAF4EDB2DBF}" type="slidenum">
              <a:rPr lang="fr-FR" smtClean="0"/>
              <a:pPr/>
              <a:t>‹N°›</a:t>
            </a:fld>
            <a:endParaRPr lang="fr-FR" dirty="0"/>
          </a:p>
        </p:txBody>
      </p:sp>
      <p:sp>
        <p:nvSpPr>
          <p:cNvPr id="14" name="Espace réservé du pied de page 13"/>
          <p:cNvSpPr>
            <a:spLocks noGrp="1"/>
          </p:cNvSpPr>
          <p:nvPr>
            <p:ph type="ftr" sz="quarter" idx="12"/>
          </p:nvPr>
        </p:nvSpPr>
        <p:spPr/>
        <p:txBody>
          <a:bodyPr/>
          <a:lstStyle/>
          <a:p>
            <a:endParaRPr lang="fr-FR"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9" name="Espace réservé du contenu 8"/>
          <p:cNvSpPr>
            <a:spLocks noGrp="1"/>
          </p:cNvSpPr>
          <p:nvPr>
            <p:ph sz="quarter" idx="1"/>
          </p:nvPr>
        </p:nvSpPr>
        <p:spPr>
          <a:xfrm>
            <a:off x="609600" y="1589567"/>
            <a:ext cx="38862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844901" y="1589567"/>
            <a:ext cx="38862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8" name="Espace réservé de la date 7"/>
          <p:cNvSpPr>
            <a:spLocks noGrp="1"/>
          </p:cNvSpPr>
          <p:nvPr>
            <p:ph type="dt" sz="half" idx="15"/>
          </p:nvPr>
        </p:nvSpPr>
        <p:spPr/>
        <p:txBody>
          <a:bodyPr rtlCol="0"/>
          <a:lstStyle/>
          <a:p>
            <a:fld id="{30B2ED48-EA2F-4D37-9B34-46250F142028}" type="datetimeFigureOut">
              <a:rPr lang="fr-FR" smtClean="0"/>
              <a:pPr/>
              <a:t>23/09/2020</a:t>
            </a:fld>
            <a:endParaRPr lang="fr-FR" dirty="0"/>
          </a:p>
        </p:txBody>
      </p:sp>
      <p:sp>
        <p:nvSpPr>
          <p:cNvPr id="10" name="Espace réservé du numéro de diapositive 9"/>
          <p:cNvSpPr>
            <a:spLocks noGrp="1"/>
          </p:cNvSpPr>
          <p:nvPr>
            <p:ph type="sldNum" sz="quarter" idx="16"/>
          </p:nvPr>
        </p:nvSpPr>
        <p:spPr/>
        <p:txBody>
          <a:bodyPr rtlCol="0"/>
          <a:lstStyle/>
          <a:p>
            <a:fld id="{92048771-5193-4E32-A8FE-4BAF4EDB2DBF}" type="slidenum">
              <a:rPr lang="fr-FR" smtClean="0"/>
              <a:pPr/>
              <a:t>‹N°›</a:t>
            </a:fld>
            <a:endParaRPr lang="fr-FR" dirty="0"/>
          </a:p>
        </p:txBody>
      </p:sp>
      <p:sp>
        <p:nvSpPr>
          <p:cNvPr id="12" name="Espace réservé du pied de page 11"/>
          <p:cNvSpPr>
            <a:spLocks noGrp="1"/>
          </p:cNvSpPr>
          <p:nvPr>
            <p:ph type="ftr" sz="quarter" idx="17"/>
          </p:nvPr>
        </p:nvSpPr>
        <p:spPr/>
        <p:txBody>
          <a:bodyPr rtlCol="0"/>
          <a:lstStyle/>
          <a:p>
            <a:endParaRPr lang="fr-F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533400" y="273050"/>
            <a:ext cx="8153400" cy="869950"/>
          </a:xfrm>
        </p:spPr>
        <p:txBody>
          <a:bodyPr anchor="ctr"/>
          <a:lstStyle>
            <a:lvl1pPr>
              <a:defRPr/>
            </a:lvl1pPr>
          </a:lstStyle>
          <a:p>
            <a:r>
              <a:rPr kumimoji="0" lang="fr-FR" smtClean="0"/>
              <a:t>Cliquez pour modifier le style du titre</a:t>
            </a:r>
            <a:endParaRPr kumimoji="0" lang="en-US"/>
          </a:p>
        </p:txBody>
      </p:sp>
      <p:sp>
        <p:nvSpPr>
          <p:cNvPr id="11" name="Espace réservé du contenu 10"/>
          <p:cNvSpPr>
            <a:spLocks noGrp="1"/>
          </p:cNvSpPr>
          <p:nvPr>
            <p:ph sz="quarter" idx="2"/>
          </p:nvPr>
        </p:nvSpPr>
        <p:spPr>
          <a:xfrm>
            <a:off x="609600" y="2438400"/>
            <a:ext cx="3886200" cy="35814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800600" y="2438400"/>
            <a:ext cx="3886200" cy="35814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space réservé de la date 9"/>
          <p:cNvSpPr>
            <a:spLocks noGrp="1"/>
          </p:cNvSpPr>
          <p:nvPr>
            <p:ph type="dt" sz="half" idx="15"/>
          </p:nvPr>
        </p:nvSpPr>
        <p:spPr/>
        <p:txBody>
          <a:bodyPr rtlCol="0"/>
          <a:lstStyle/>
          <a:p>
            <a:fld id="{30B2ED48-EA2F-4D37-9B34-46250F142028}" type="datetimeFigureOut">
              <a:rPr lang="fr-FR" smtClean="0"/>
              <a:pPr/>
              <a:t>23/09/2020</a:t>
            </a:fld>
            <a:endParaRPr lang="fr-FR" dirty="0"/>
          </a:p>
        </p:txBody>
      </p:sp>
      <p:sp>
        <p:nvSpPr>
          <p:cNvPr id="12" name="Espace réservé du numéro de diapositive 11"/>
          <p:cNvSpPr>
            <a:spLocks noGrp="1"/>
          </p:cNvSpPr>
          <p:nvPr>
            <p:ph type="sldNum" sz="quarter" idx="16"/>
          </p:nvPr>
        </p:nvSpPr>
        <p:spPr/>
        <p:txBody>
          <a:bodyPr rtlCol="0"/>
          <a:lstStyle/>
          <a:p>
            <a:fld id="{92048771-5193-4E32-A8FE-4BAF4EDB2DBF}" type="slidenum">
              <a:rPr lang="fr-FR" smtClean="0"/>
              <a:pPr/>
              <a:t>‹N°›</a:t>
            </a:fld>
            <a:endParaRPr lang="fr-FR" dirty="0"/>
          </a:p>
        </p:txBody>
      </p:sp>
      <p:sp>
        <p:nvSpPr>
          <p:cNvPr id="14" name="Espace réservé du pied de page 13"/>
          <p:cNvSpPr>
            <a:spLocks noGrp="1"/>
          </p:cNvSpPr>
          <p:nvPr>
            <p:ph type="ftr" sz="quarter" idx="17"/>
          </p:nvPr>
        </p:nvSpPr>
        <p:spPr/>
        <p:txBody>
          <a:bodyPr rtlCol="0"/>
          <a:lstStyle/>
          <a:p>
            <a:endParaRPr lang="fr-FR" dirty="0"/>
          </a:p>
        </p:txBody>
      </p:sp>
      <p:sp>
        <p:nvSpPr>
          <p:cNvPr id="16" name="Espace réservé du texte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
        <p:nvSpPr>
          <p:cNvPr id="15" name="Espace réservé du texte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30B2ED48-EA2F-4D37-9B34-46250F142028}" type="datetimeFigureOut">
              <a:rPr lang="fr-FR" smtClean="0"/>
              <a:pPr/>
              <a:t>23/09/2020</a:t>
            </a:fld>
            <a:endParaRPr lang="fr-FR" dirty="0"/>
          </a:p>
        </p:txBody>
      </p:sp>
      <p:sp>
        <p:nvSpPr>
          <p:cNvPr id="4" name="Espace réservé du pied de page 3"/>
          <p:cNvSpPr>
            <a:spLocks noGrp="1"/>
          </p:cNvSpPr>
          <p:nvPr>
            <p:ph type="ftr" sz="quarter" idx="11"/>
          </p:nvPr>
        </p:nvSpPr>
        <p:spPr/>
        <p:txBody>
          <a:bodyPr/>
          <a:lstStyle/>
          <a:p>
            <a:endParaRPr lang="fr-FR" dirty="0"/>
          </a:p>
        </p:txBody>
      </p:sp>
      <p:sp>
        <p:nvSpPr>
          <p:cNvPr id="5" name="Espace réservé du numéro de diapositive 4"/>
          <p:cNvSpPr>
            <a:spLocks noGrp="1"/>
          </p:cNvSpPr>
          <p:nvPr>
            <p:ph type="sldNum" sz="quarter" idx="12"/>
          </p:nvPr>
        </p:nvSpPr>
        <p:spPr/>
        <p:txBody>
          <a:bodyPr/>
          <a:lstStyle>
            <a:lvl1pPr>
              <a:defRPr>
                <a:solidFill>
                  <a:srgbClr val="FFFFFF"/>
                </a:solidFill>
              </a:defRPr>
            </a:lvl1pPr>
          </a:lstStyle>
          <a:p>
            <a:fld id="{92048771-5193-4E32-A8FE-4BAF4EDB2DBF}" type="slidenum">
              <a:rPr lang="fr-FR" smtClean="0"/>
              <a:pPr/>
              <a:t>‹N°›</a:t>
            </a:fld>
            <a:endParaRPr lang="fr-F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0B2ED48-EA2F-4D37-9B34-46250F142028}" type="datetimeFigureOut">
              <a:rPr lang="fr-FR" smtClean="0"/>
              <a:pPr/>
              <a:t>23/09/2020</a:t>
            </a:fld>
            <a:endParaRPr lang="fr-FR" dirty="0"/>
          </a:p>
        </p:txBody>
      </p:sp>
      <p:sp>
        <p:nvSpPr>
          <p:cNvPr id="3" name="Espace réservé du pied de page 2"/>
          <p:cNvSpPr>
            <a:spLocks noGrp="1"/>
          </p:cNvSpPr>
          <p:nvPr>
            <p:ph type="ftr" sz="quarter" idx="11"/>
          </p:nvPr>
        </p:nvSpPr>
        <p:spPr/>
        <p:txBody>
          <a:bodyPr/>
          <a:lstStyle/>
          <a:p>
            <a:endParaRPr lang="fr-FR" dirty="0"/>
          </a:p>
        </p:txBody>
      </p:sp>
      <p:sp>
        <p:nvSpPr>
          <p:cNvPr id="4" name="Espace réservé du numéro de diapositive 3"/>
          <p:cNvSpPr>
            <a:spLocks noGrp="1"/>
          </p:cNvSpPr>
          <p:nvPr>
            <p:ph type="sldNum" sz="quarter" idx="12"/>
          </p:nvPr>
        </p:nvSpPr>
        <p:spPr>
          <a:xfrm>
            <a:off x="0" y="6248400"/>
            <a:ext cx="533400" cy="381000"/>
          </a:xfrm>
        </p:spPr>
        <p:txBody>
          <a:bodyPr/>
          <a:lstStyle>
            <a:lvl1pPr>
              <a:defRPr>
                <a:solidFill>
                  <a:schemeClr val="tx2"/>
                </a:solidFill>
              </a:defRPr>
            </a:lvl1pPr>
          </a:lstStyle>
          <a:p>
            <a:fld id="{92048771-5193-4E32-A8FE-4BAF4EDB2DBF}" type="slidenum">
              <a:rPr lang="fr-FR" smtClean="0"/>
              <a:pPr/>
              <a:t>‹N°›</a:t>
            </a:fld>
            <a:endParaRPr lang="fr-F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0" y="273050"/>
            <a:ext cx="8077200" cy="869950"/>
          </a:xfrm>
        </p:spPr>
        <p:txBody>
          <a:bodyPr anchor="ctr"/>
          <a:lstStyle>
            <a:lvl1pPr algn="l">
              <a:buNone/>
              <a:defRPr sz="4400" b="0"/>
            </a:lvl1p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30B2ED48-EA2F-4D37-9B34-46250F142028}" type="datetimeFigureOut">
              <a:rPr lang="fr-FR" smtClean="0"/>
              <a:pPr/>
              <a:t>23/09/2020</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lvl1pPr>
              <a:defRPr>
                <a:solidFill>
                  <a:srgbClr val="FFFFFF"/>
                </a:solidFill>
              </a:defRPr>
            </a:lvl1pPr>
          </a:lstStyle>
          <a:p>
            <a:fld id="{92048771-5193-4E32-A8FE-4BAF4EDB2DBF}" type="slidenum">
              <a:rPr lang="fr-FR" smtClean="0"/>
              <a:pPr/>
              <a:t>‹N°›</a:t>
            </a:fld>
            <a:endParaRPr lang="fr-FR" dirty="0"/>
          </a:p>
        </p:txBody>
      </p:sp>
      <p:sp>
        <p:nvSpPr>
          <p:cNvPr id="3" name="Espace réservé du texte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9" name="Espace réservé du contenu 8"/>
          <p:cNvSpPr>
            <a:spLocks noGrp="1"/>
          </p:cNvSpPr>
          <p:nvPr>
            <p:ph sz="quarter" idx="1"/>
          </p:nvPr>
        </p:nvSpPr>
        <p:spPr>
          <a:xfrm>
            <a:off x="2362200" y="1752600"/>
            <a:ext cx="6400800" cy="44196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fr-FR" smtClean="0"/>
              <a:t>Cliquez pour modifier les styles du texte du masque</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r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fr-FR" smtClean="0"/>
              <a:t>Cliquez pour modifier le style du titre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Espace réservé de la date 11"/>
          <p:cNvSpPr>
            <a:spLocks noGrp="1"/>
          </p:cNvSpPr>
          <p:nvPr>
            <p:ph type="dt" sz="half" idx="10"/>
          </p:nvPr>
        </p:nvSpPr>
        <p:spPr>
          <a:xfrm>
            <a:off x="6248400" y="6248400"/>
            <a:ext cx="2667000" cy="365125"/>
          </a:xfrm>
        </p:spPr>
        <p:txBody>
          <a:bodyPr rtlCol="0"/>
          <a:lstStyle/>
          <a:p>
            <a:fld id="{30B2ED48-EA2F-4D37-9B34-46250F142028}" type="datetimeFigureOut">
              <a:rPr lang="fr-FR" smtClean="0"/>
              <a:pPr/>
              <a:t>23/09/2020</a:t>
            </a:fld>
            <a:endParaRPr lang="fr-FR" dirty="0"/>
          </a:p>
        </p:txBody>
      </p:sp>
      <p:sp>
        <p:nvSpPr>
          <p:cNvPr id="13" name="Espace réservé du numéro de diapositive 12"/>
          <p:cNvSpPr>
            <a:spLocks noGrp="1"/>
          </p:cNvSpPr>
          <p:nvPr>
            <p:ph type="sldNum" sz="quarter" idx="11"/>
          </p:nvPr>
        </p:nvSpPr>
        <p:spPr>
          <a:xfrm>
            <a:off x="0" y="4667249"/>
            <a:ext cx="1447800" cy="663578"/>
          </a:xfrm>
        </p:spPr>
        <p:txBody>
          <a:bodyPr rtlCol="0"/>
          <a:lstStyle>
            <a:lvl1pPr>
              <a:defRPr sz="2800"/>
            </a:lvl1pPr>
          </a:lstStyle>
          <a:p>
            <a:fld id="{92048771-5193-4E32-A8FE-4BAF4EDB2DBF}" type="slidenum">
              <a:rPr lang="fr-FR" smtClean="0"/>
              <a:pPr/>
              <a:t>‹N°›</a:t>
            </a:fld>
            <a:endParaRPr lang="fr-FR" dirty="0"/>
          </a:p>
        </p:txBody>
      </p:sp>
      <p:sp>
        <p:nvSpPr>
          <p:cNvPr id="14" name="Espace réservé du pied de page 13"/>
          <p:cNvSpPr>
            <a:spLocks noGrp="1"/>
          </p:cNvSpPr>
          <p:nvPr>
            <p:ph type="ftr" sz="quarter" idx="12"/>
          </p:nvPr>
        </p:nvSpPr>
        <p:spPr>
          <a:xfrm>
            <a:off x="1600200" y="6248206"/>
            <a:ext cx="4572000" cy="365125"/>
          </a:xfrm>
        </p:spPr>
        <p:txBody>
          <a:bodyPr rtlCol="0"/>
          <a:lstStyle/>
          <a:p>
            <a:endParaRPr lang="fr-FR" dirty="0"/>
          </a:p>
        </p:txBody>
      </p:sp>
      <p:sp>
        <p:nvSpPr>
          <p:cNvPr id="3" name="Espace réservé pour une image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fr-FR" dirty="0" smtClean="0"/>
              <a:t>Cliquez sur l'icône pour ajouter une image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30B2ED48-EA2F-4D37-9B34-46250F142028}" type="datetimeFigureOut">
              <a:rPr lang="fr-FR" smtClean="0"/>
              <a:pPr/>
              <a:t>23/09/2020</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92048771-5193-4E32-A8FE-4BAF4EDB2DBF}" type="slidenum">
              <a:rPr lang="fr-FR" smtClean="0"/>
              <a:pPr/>
              <a:t>‹N°›</a:t>
            </a:fld>
            <a:endParaRPr lang="fr-F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53200" y="609600"/>
            <a:ext cx="2057400" cy="5516563"/>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609600"/>
            <a:ext cx="5562600" cy="5516564"/>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a:xfrm>
            <a:off x="6553200" y="6248402"/>
            <a:ext cx="2209800" cy="365125"/>
          </a:xfrm>
        </p:spPr>
        <p:txBody>
          <a:bodyPr/>
          <a:lstStyle/>
          <a:p>
            <a:fld id="{30B2ED48-EA2F-4D37-9B34-46250F142028}" type="datetimeFigureOut">
              <a:rPr lang="fr-FR" smtClean="0"/>
              <a:pPr/>
              <a:t>23/09/2020</a:t>
            </a:fld>
            <a:endParaRPr lang="fr-FR" dirty="0"/>
          </a:p>
        </p:txBody>
      </p:sp>
      <p:sp>
        <p:nvSpPr>
          <p:cNvPr id="5" name="Espace réservé du pied de page 4"/>
          <p:cNvSpPr>
            <a:spLocks noGrp="1"/>
          </p:cNvSpPr>
          <p:nvPr>
            <p:ph type="ftr" sz="quarter" idx="11"/>
          </p:nvPr>
        </p:nvSpPr>
        <p:spPr>
          <a:xfrm>
            <a:off x="457201" y="6248207"/>
            <a:ext cx="5573483" cy="365125"/>
          </a:xfrm>
        </p:spPr>
        <p:txBody>
          <a:bodyPr/>
          <a:lstStyle/>
          <a:p>
            <a:endParaRPr lang="fr-FR"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Espace réservé du numéro de diapositive 5"/>
          <p:cNvSpPr>
            <a:spLocks noGrp="1"/>
          </p:cNvSpPr>
          <p:nvPr>
            <p:ph type="sldNum" sz="quarter" idx="12"/>
          </p:nvPr>
        </p:nvSpPr>
        <p:spPr>
          <a:xfrm rot="5400000">
            <a:off x="5989638" y="144462"/>
            <a:ext cx="533400" cy="244476"/>
          </a:xfrm>
        </p:spPr>
        <p:txBody>
          <a:bodyPr/>
          <a:lstStyle/>
          <a:p>
            <a:fld id="{92048771-5193-4E32-A8FE-4BAF4EDB2DBF}" type="slidenum">
              <a:rPr lang="fr-FR" smtClean="0"/>
              <a:pPr/>
              <a:t>‹N°›</a:t>
            </a:fld>
            <a:endParaRPr lang="fr-FR"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609600" y="228600"/>
            <a:ext cx="8153400" cy="990600"/>
          </a:xfrm>
          <a:prstGeom prst="rect">
            <a:avLst/>
          </a:prstGeom>
        </p:spPr>
        <p:txBody>
          <a:bodyPr vert="horz" anchor="ctr">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0B2ED48-EA2F-4D37-9B34-46250F142028}" type="datetimeFigureOut">
              <a:rPr lang="fr-FR" smtClean="0"/>
              <a:pPr/>
              <a:t>23/09/2020</a:t>
            </a:fld>
            <a:endParaRPr lang="fr-FR" dirty="0"/>
          </a:p>
        </p:txBody>
      </p:sp>
      <p:sp>
        <p:nvSpPr>
          <p:cNvPr id="3" name="Espace réservé du pied de page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fr-FR"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space réservé du numéro de diapositive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2048771-5193-4E32-A8FE-4BAF4EDB2DBF}" type="slidenum">
              <a:rPr lang="fr-FR" smtClean="0"/>
              <a:pPr/>
              <a:t>‹N°›</a:t>
            </a:fld>
            <a:endParaRPr lang="fr-FR"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8.gif"/><Relationship Id="rId5" Type="http://schemas.openxmlformats.org/officeDocument/2006/relationships/image" Target="../media/image7.jpeg"/><Relationship Id="rId4" Type="http://schemas.openxmlformats.org/officeDocument/2006/relationships/hyperlink" Target="http://www.google.fr/imgres?imgurl=http://www.copd.be/Media/gen_images/pinkpuffer.jpg&amp;imgrefurl=http://www.copd.be/Content/general/meer_info/wat_is_copd/emfyseem/2/index.jsp&amp;usg=__COfh3ik0YTDmzeRlXLGxBQ54oT8=&amp;h=196&amp;w=140&amp;sz=32&amp;hl=fr&amp;start=7&amp;zoom=1&amp;itbs=1&amp;tbnid=WBvxCwFydh7ffM:&amp;tbnh=104&amp;tbnw=74&amp;prev=/images?q=pink+puffer&amp;hl=fr&amp;sa=G&amp;gbv=2&amp;tbs=isch: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hyperlink" Target="http://www.cri-net.com/prive/base_images/behcet/grande/behcet012006_2.jpg"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images.google.fr/imgres?imgurl=http://www.oftalmored.com/ptosis/figuras/f034.jpg&amp;imgrefurl=http://www.oftalmored.com/ptosis/figuras/f034.htm&amp;h=374&amp;w=399&amp;sz=30&amp;tbnid=LFDz58HrcEdtOM:&amp;tbnh=112&amp;tbnw=120&amp;hl=fr&amp;start=6&amp;prev=/images?q=Claude+Bernard-Horner&amp;svnum=10&amp;hl=fr&amp;lr=&amp;sa=G"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hyperlink" Target="http://images.google.fr/imgres?imgurl=http://umvf.cochin.univ-paris5.fr/IMG/jpg/cbh.jpg&amp;imgrefurl=http://umvf.cochin.univ-paris5.fr/article.php3?id_article=954&amp;h=151&amp;w=300&amp;sz=22&amp;tbnid=z0GlwVj-e-NKnM:&amp;tbnh=55&amp;tbnw=111&amp;hl=fr&amp;start=3&amp;prev=/images?q=Claude+Bernard-Horner&amp;svnum=10&amp;hl=fr&amp;lr=&amp;sa=G" TargetMode="External"/><Relationship Id="rId4" Type="http://schemas.openxmlformats.org/officeDocument/2006/relationships/image" Target="../media/image2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body" idx="1"/>
          </p:nvPr>
        </p:nvSpPr>
        <p:spPr>
          <a:xfrm>
            <a:off x="571472" y="3357563"/>
            <a:ext cx="8194683" cy="785818"/>
          </a:xfrm>
          <a:ln>
            <a:solidFill>
              <a:srgbClr val="92D050"/>
            </a:solidFill>
          </a:ln>
        </p:spPr>
        <p:txBody>
          <a:bodyPr>
            <a:normAutofit fontScale="77500" lnSpcReduction="20000"/>
          </a:bodyPr>
          <a:lstStyle/>
          <a:p>
            <a:pPr algn="l"/>
            <a:r>
              <a:rPr lang="fr-FR" sz="3300" b="1" dirty="0" smtClean="0">
                <a:solidFill>
                  <a:srgbClr val="0070C0"/>
                </a:solidFill>
                <a:latin typeface="Calibri" pitchFamily="34" charset="0"/>
                <a:cs typeface="Calibri" pitchFamily="34" charset="0"/>
              </a:rPr>
              <a:t>                       PR HANANE  EL OUAZZANI</a:t>
            </a:r>
          </a:p>
          <a:p>
            <a:pPr algn="l"/>
            <a:r>
              <a:rPr lang="fr-FR" b="1" dirty="0" smtClean="0">
                <a:solidFill>
                  <a:srgbClr val="0070C0"/>
                </a:solidFill>
                <a:latin typeface="Calibri" pitchFamily="34" charset="0"/>
                <a:cs typeface="Calibri" pitchFamily="34" charset="0"/>
              </a:rPr>
              <a:t>                                               HMI MED V </a:t>
            </a:r>
            <a:endParaRPr lang="fr-FR" b="1" dirty="0">
              <a:solidFill>
                <a:srgbClr val="0070C0"/>
              </a:solidFill>
              <a:latin typeface="Calibri" pitchFamily="34" charset="0"/>
              <a:cs typeface="Calibri" pitchFamily="34" charset="0"/>
            </a:endParaRPr>
          </a:p>
        </p:txBody>
      </p:sp>
      <p:sp>
        <p:nvSpPr>
          <p:cNvPr id="2" name="Titre 1"/>
          <p:cNvSpPr>
            <a:spLocks noGrp="1"/>
          </p:cNvSpPr>
          <p:nvPr>
            <p:ph type="title"/>
          </p:nvPr>
        </p:nvSpPr>
        <p:spPr/>
        <p:txBody>
          <a:bodyPr>
            <a:normAutofit fontScale="90000"/>
          </a:bodyPr>
          <a:lstStyle/>
          <a:p>
            <a:r>
              <a:rPr lang="fr-FR" sz="3600" dirty="0" smtClean="0"/>
              <a:t/>
            </a:r>
            <a:br>
              <a:rPr lang="fr-FR" sz="3600" dirty="0" smtClean="0"/>
            </a:br>
            <a:r>
              <a:rPr lang="fr-FR" sz="3600" dirty="0" smtClean="0"/>
              <a:t>OBSERVATION MEDICALE EN PNEUMOLOGIE</a:t>
            </a:r>
            <a:r>
              <a:rPr lang="fr-FR" dirty="0" smtClean="0"/>
              <a:t/>
            </a:r>
            <a:br>
              <a:rPr lang="fr-FR" dirty="0" smtClean="0"/>
            </a:b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idx="1"/>
          </p:nvPr>
        </p:nvSpPr>
        <p:spPr>
          <a:xfrm>
            <a:off x="285720" y="2743200"/>
            <a:ext cx="8208993" cy="3686196"/>
          </a:xfrm>
        </p:spPr>
        <p:txBody>
          <a:bodyPr>
            <a:normAutofit/>
          </a:bodyPr>
          <a:lstStyle/>
          <a:p>
            <a:endParaRPr lang="fr-FR" dirty="0" smtClean="0"/>
          </a:p>
          <a:p>
            <a:pPr>
              <a:buClr>
                <a:srgbClr val="C00000"/>
              </a:buClr>
              <a:buSzPct val="100000"/>
              <a:buFont typeface="Wingdings" pitchFamily="2" charset="2"/>
              <a:buChar char="§"/>
            </a:pPr>
            <a:r>
              <a:rPr lang="fr-FR" dirty="0" smtClean="0"/>
              <a:t>Savoir se préparer avant de rencontrer le patient.</a:t>
            </a:r>
          </a:p>
          <a:p>
            <a:pPr>
              <a:buClr>
                <a:srgbClr val="C00000"/>
              </a:buClr>
              <a:buSzPct val="100000"/>
              <a:buFont typeface="Wingdings" pitchFamily="2" charset="2"/>
              <a:buChar char="§"/>
            </a:pPr>
            <a:r>
              <a:rPr lang="fr-FR" dirty="0" smtClean="0"/>
              <a:t>Comprendre ce qu'est une observation médicale.</a:t>
            </a:r>
          </a:p>
          <a:p>
            <a:pPr>
              <a:buClr>
                <a:srgbClr val="C00000"/>
              </a:buClr>
              <a:buSzPct val="100000"/>
              <a:buFont typeface="Wingdings" pitchFamily="2" charset="2"/>
              <a:buChar char="§"/>
            </a:pPr>
            <a:r>
              <a:rPr lang="fr-FR" dirty="0" smtClean="0"/>
              <a:t>Savoir construire l'observation.</a:t>
            </a:r>
          </a:p>
          <a:p>
            <a:pPr>
              <a:buClr>
                <a:srgbClr val="C00000"/>
              </a:buClr>
              <a:buSzPct val="100000"/>
              <a:buFont typeface="Wingdings" pitchFamily="2" charset="2"/>
              <a:buChar char="§"/>
            </a:pPr>
            <a:r>
              <a:rPr lang="fr-FR" dirty="0" smtClean="0"/>
              <a:t>Savoir mener un interrogatoire.</a:t>
            </a:r>
          </a:p>
          <a:p>
            <a:pPr>
              <a:buClr>
                <a:srgbClr val="C00000"/>
              </a:buClr>
              <a:buSzPct val="100000"/>
              <a:buFont typeface="Wingdings" pitchFamily="2" charset="2"/>
              <a:buChar char="§"/>
            </a:pPr>
            <a:r>
              <a:rPr lang="fr-FR" dirty="0" smtClean="0"/>
              <a:t>Comprendre le déroulement d'un examen clinique.</a:t>
            </a:r>
          </a:p>
          <a:p>
            <a:pPr>
              <a:buClr>
                <a:srgbClr val="C00000"/>
              </a:buClr>
              <a:buSzPct val="100000"/>
              <a:buFont typeface="Wingdings" pitchFamily="2" charset="2"/>
              <a:buChar char="§"/>
            </a:pPr>
            <a:r>
              <a:rPr lang="fr-FR" dirty="0" smtClean="0"/>
              <a:t>Comprendre comment se formule une conclusion.</a:t>
            </a:r>
          </a:p>
          <a:p>
            <a:pPr>
              <a:buFont typeface="Wingdings" pitchFamily="2" charset="2"/>
              <a:buChar char="§"/>
            </a:pPr>
            <a:endParaRPr lang="fr-FR" dirty="0"/>
          </a:p>
        </p:txBody>
      </p:sp>
      <p:sp>
        <p:nvSpPr>
          <p:cNvPr id="3" name="Titre 2"/>
          <p:cNvSpPr>
            <a:spLocks noGrp="1"/>
          </p:cNvSpPr>
          <p:nvPr>
            <p:ph type="title"/>
          </p:nvPr>
        </p:nvSpPr>
        <p:spPr/>
        <p:txBody>
          <a:bodyPr>
            <a:normAutofit fontScale="90000"/>
          </a:bodyPr>
          <a:lstStyle/>
          <a:p>
            <a:r>
              <a:rPr lang="fr-FR" dirty="0" smtClean="0"/>
              <a:t>Objectifs spécifiques</a:t>
            </a:r>
            <a:br>
              <a:rPr lang="fr-FR" dirty="0" smtClean="0"/>
            </a:b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smtClean="0"/>
              <a:t>AVANT L’INTERROGATOIRE</a:t>
            </a:r>
            <a:endParaRPr lang="fr-FR" dirty="0"/>
          </a:p>
        </p:txBody>
      </p:sp>
      <p:sp>
        <p:nvSpPr>
          <p:cNvPr id="5" name="Espace réservé du contenu 4"/>
          <p:cNvSpPr>
            <a:spLocks noGrp="1"/>
          </p:cNvSpPr>
          <p:nvPr>
            <p:ph sz="quarter" idx="1"/>
          </p:nvPr>
        </p:nvSpPr>
        <p:spPr/>
        <p:txBody>
          <a:bodyPr/>
          <a:lstStyle/>
          <a:p>
            <a:r>
              <a:rPr lang="fr-FR" dirty="0" smtClean="0"/>
              <a:t>Présentable, propre et souriant</a:t>
            </a:r>
          </a:p>
          <a:p>
            <a:r>
              <a:rPr lang="fr-FR" dirty="0" smtClean="0"/>
              <a:t>Stylo, papier, montre, stéthoscope, tensiomètre, gants…</a:t>
            </a:r>
          </a:p>
          <a:p>
            <a:r>
              <a:rPr lang="fr-FR" dirty="0" smtClean="0"/>
              <a:t>Présentez-vous, tel que vous êtes « étudiants en médecine »</a:t>
            </a:r>
          </a:p>
          <a:p>
            <a:r>
              <a:rPr lang="fr-FR" dirty="0" smtClean="0"/>
              <a:t>Pas trop dominant ni trop rapproché.</a:t>
            </a:r>
          </a:p>
          <a:p>
            <a:pPr>
              <a:buNone/>
            </a:pPr>
            <a:endParaRPr lang="fr-FR" dirty="0" smtClean="0"/>
          </a:p>
          <a:p>
            <a:endParaRPr lang="fr-FR" dirty="0" smtClean="0"/>
          </a:p>
          <a:p>
            <a:endParaRPr lang="fr-FR" dirty="0"/>
          </a:p>
        </p:txBody>
      </p:sp>
      <p:pic>
        <p:nvPicPr>
          <p:cNvPr id="1028" name="Picture 4"/>
          <p:cNvPicPr>
            <a:picLocks noChangeAspect="1" noChangeArrowheads="1"/>
          </p:cNvPicPr>
          <p:nvPr/>
        </p:nvPicPr>
        <p:blipFill>
          <a:blip r:embed="rId2"/>
          <a:srcRect/>
          <a:stretch>
            <a:fillRect/>
          </a:stretch>
        </p:blipFill>
        <p:spPr bwMode="auto">
          <a:xfrm>
            <a:off x="4500562" y="4548183"/>
            <a:ext cx="4408451" cy="23098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428596" y="1643050"/>
            <a:ext cx="8337452" cy="4452950"/>
          </a:xfrm>
        </p:spPr>
        <p:txBody>
          <a:bodyPr/>
          <a:lstStyle/>
          <a:p>
            <a:r>
              <a:rPr lang="fr-FR" dirty="0" smtClean="0">
                <a:latin typeface="Calibri" pitchFamily="34" charset="0"/>
                <a:cs typeface="Calibri" pitchFamily="34" charset="0"/>
              </a:rPr>
              <a:t>Aucun examen complémentaire ne peut dispenser le médecin du temps qu'il doit prendre pour interroger un patient.</a:t>
            </a:r>
          </a:p>
          <a:p>
            <a:r>
              <a:rPr lang="fr-FR" dirty="0" smtClean="0">
                <a:latin typeface="Calibri" pitchFamily="34" charset="0"/>
                <a:cs typeface="Calibri" pitchFamily="34" charset="0"/>
              </a:rPr>
              <a:t>Un interrogatoire bien mené est indispensable à l'établissement d'une relation de confiance avec le patient.</a:t>
            </a:r>
          </a:p>
          <a:p>
            <a:endParaRPr lang="fr-FR" dirty="0"/>
          </a:p>
        </p:txBody>
      </p:sp>
      <p:sp>
        <p:nvSpPr>
          <p:cNvPr id="4" name="Titre 1"/>
          <p:cNvSpPr txBox="1">
            <a:spLocks/>
          </p:cNvSpPr>
          <p:nvPr/>
        </p:nvSpPr>
        <p:spPr>
          <a:xfrm>
            <a:off x="428596" y="4857760"/>
            <a:ext cx="8286808" cy="1428760"/>
          </a:xfrm>
          <a:prstGeom prst="rect">
            <a:avLst/>
          </a:prstGeom>
          <a:ln>
            <a:solidFill>
              <a:srgbClr val="C00000"/>
            </a:solidFill>
          </a:ln>
        </p:spPr>
        <p:txBody>
          <a:bodyPr vert="horz" anchor="ctr">
            <a:normAutofit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fr-FR" sz="2000" b="0" i="0" u="none" strike="noStrike" kern="1200" cap="none" spc="0" normalizeH="0" baseline="0" noProof="0" dirty="0" smtClean="0">
                <a:ln>
                  <a:noFill/>
                </a:ln>
                <a:solidFill>
                  <a:schemeClr val="tx2"/>
                </a:solidFill>
                <a:effectLst/>
                <a:uLnTx/>
                <a:uFillTx/>
                <a:latin typeface="+mj-lt"/>
                <a:ea typeface="+mj-ea"/>
                <a:cs typeface="+mj-cs"/>
              </a:rPr>
              <a:t>      </a:t>
            </a:r>
            <a:r>
              <a:rPr kumimoji="0" lang="fr-FR" sz="3200" b="0" i="0" u="none" strike="noStrike" kern="1200" cap="none" spc="0" normalizeH="0" baseline="0" noProof="0" dirty="0" smtClean="0">
                <a:ln>
                  <a:noFill/>
                </a:ln>
                <a:solidFill>
                  <a:schemeClr val="tx2"/>
                </a:solidFill>
                <a:effectLst/>
                <a:uLnTx/>
                <a:uFillTx/>
                <a:latin typeface="+mj-lt"/>
                <a:ea typeface="+mj-ea"/>
                <a:cs typeface="+mj-cs"/>
              </a:rPr>
              <a:t>Ecoutez le malade, il va donner le diagnostic</a:t>
            </a:r>
            <a:br>
              <a:rPr kumimoji="0" lang="fr-FR" sz="3200" b="0" i="0" u="none" strike="noStrike" kern="1200" cap="none" spc="0" normalizeH="0" baseline="0" noProof="0" dirty="0" smtClean="0">
                <a:ln>
                  <a:noFill/>
                </a:ln>
                <a:solidFill>
                  <a:schemeClr val="tx2"/>
                </a:solidFill>
                <a:effectLst/>
                <a:uLnTx/>
                <a:uFillTx/>
                <a:latin typeface="+mj-lt"/>
                <a:ea typeface="+mj-ea"/>
                <a:cs typeface="+mj-cs"/>
              </a:rPr>
            </a:br>
            <a:r>
              <a:rPr kumimoji="0" lang="fr-FR" sz="3200" b="0" i="0" u="none" strike="noStrike" kern="1200" cap="none" spc="0" normalizeH="0" baseline="0" noProof="0" dirty="0" smtClean="0">
                <a:ln>
                  <a:noFill/>
                </a:ln>
                <a:solidFill>
                  <a:schemeClr val="tx2"/>
                </a:solidFill>
                <a:effectLst/>
                <a:uLnTx/>
                <a:uFillTx/>
                <a:latin typeface="+mj-lt"/>
                <a:ea typeface="+mj-ea"/>
                <a:cs typeface="+mj-cs"/>
              </a:rPr>
              <a:t>           </a:t>
            </a:r>
            <a:br>
              <a:rPr kumimoji="0" lang="fr-FR" sz="3200" b="0" i="0" u="none" strike="noStrike" kern="1200" cap="none" spc="0" normalizeH="0" baseline="0" noProof="0" dirty="0" smtClean="0">
                <a:ln>
                  <a:noFill/>
                </a:ln>
                <a:solidFill>
                  <a:schemeClr val="tx2"/>
                </a:solidFill>
                <a:effectLst/>
                <a:uLnTx/>
                <a:uFillTx/>
                <a:latin typeface="+mj-lt"/>
                <a:ea typeface="+mj-ea"/>
                <a:cs typeface="+mj-cs"/>
              </a:rPr>
            </a:br>
            <a:r>
              <a:rPr kumimoji="0" lang="fr-FR" sz="3200" b="0" i="0" u="none" strike="noStrike" kern="1200" cap="none" spc="0" normalizeH="0" baseline="0" noProof="0" dirty="0" smtClean="0">
                <a:ln>
                  <a:noFill/>
                </a:ln>
                <a:solidFill>
                  <a:schemeClr val="tx2"/>
                </a:solidFill>
                <a:effectLst/>
                <a:uLnTx/>
                <a:uFillTx/>
                <a:latin typeface="+mj-lt"/>
                <a:ea typeface="+mj-ea"/>
                <a:cs typeface="+mj-cs"/>
              </a:rPr>
              <a:t>              Sir William Osler (1849-1919)</a:t>
            </a:r>
            <a:endParaRPr kumimoji="0" lang="fr-FR" sz="32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Attention !</a:t>
            </a:r>
            <a:br>
              <a:rPr lang="fr-FR" dirty="0" smtClean="0"/>
            </a:br>
            <a:endParaRPr lang="fr-FR" dirty="0"/>
          </a:p>
        </p:txBody>
      </p:sp>
      <p:sp>
        <p:nvSpPr>
          <p:cNvPr id="3" name="Espace réservé du contenu 2"/>
          <p:cNvSpPr>
            <a:spLocks noGrp="1"/>
          </p:cNvSpPr>
          <p:nvPr>
            <p:ph sz="quarter" idx="1"/>
          </p:nvPr>
        </p:nvSpPr>
        <p:spPr/>
        <p:txBody>
          <a:bodyPr>
            <a:normAutofit/>
          </a:bodyPr>
          <a:lstStyle/>
          <a:p>
            <a:r>
              <a:rPr lang="fr-FR" dirty="0" smtClean="0"/>
              <a:t>Le patient n'est pas médecin, il ne sait pas ce qui est important à dire et ce qui l'est moins. Donc vous ne pourrez pas dire « le patient ne me l'a pas dit». </a:t>
            </a:r>
          </a:p>
          <a:p>
            <a:endParaRPr lang="fr-FR" dirty="0" smtClean="0"/>
          </a:p>
          <a:p>
            <a:r>
              <a:rPr lang="fr-FR" dirty="0" smtClean="0"/>
              <a:t>Il faudra dire « j'ai oublié de lui demander »...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l"/>
            <a:r>
              <a:rPr lang="fr-FR" sz="3600" b="1" dirty="0" smtClean="0"/>
              <a:t>INTERROGATOIRE</a:t>
            </a:r>
            <a:endParaRPr lang="fr-FR" sz="3600" b="1" dirty="0"/>
          </a:p>
        </p:txBody>
      </p:sp>
      <p:sp>
        <p:nvSpPr>
          <p:cNvPr id="3" name="Espace réservé du contenu 2"/>
          <p:cNvSpPr>
            <a:spLocks noGrp="1"/>
          </p:cNvSpPr>
          <p:nvPr>
            <p:ph sz="quarter" idx="1"/>
          </p:nvPr>
        </p:nvSpPr>
        <p:spPr>
          <a:xfrm>
            <a:off x="214282" y="1500174"/>
            <a:ext cx="8715436" cy="5143536"/>
          </a:xfrm>
        </p:spPr>
        <p:txBody>
          <a:bodyPr>
            <a:normAutofit lnSpcReduction="10000"/>
          </a:bodyPr>
          <a:lstStyle/>
          <a:p>
            <a:r>
              <a:rPr lang="fr-FR" sz="3100" b="1" dirty="0" smtClean="0">
                <a:latin typeface="Calibri" pitchFamily="34" charset="0"/>
              </a:rPr>
              <a:t>Renseignements d'ordre administratif</a:t>
            </a:r>
          </a:p>
          <a:p>
            <a:pPr>
              <a:buFont typeface="Wingdings" pitchFamily="2" charset="2"/>
              <a:buChar char="ü"/>
            </a:pPr>
            <a:r>
              <a:rPr lang="fr-FR" sz="3100" dirty="0" smtClean="0">
                <a:latin typeface="Calibri" pitchFamily="34" charset="0"/>
              </a:rPr>
              <a:t>Date (et identification de la personne ayant rédigé l'observation).</a:t>
            </a:r>
          </a:p>
          <a:p>
            <a:pPr>
              <a:buFont typeface="Wingdings" pitchFamily="2" charset="2"/>
              <a:buChar char="ü"/>
            </a:pPr>
            <a:r>
              <a:rPr lang="fr-FR" sz="3100" dirty="0" smtClean="0">
                <a:latin typeface="Calibri" pitchFamily="34" charset="0"/>
              </a:rPr>
              <a:t>Nom, prénom, sexe du patient.</a:t>
            </a:r>
          </a:p>
          <a:p>
            <a:pPr>
              <a:buFont typeface="Wingdings" pitchFamily="2" charset="2"/>
              <a:buChar char="ü"/>
            </a:pPr>
            <a:r>
              <a:rPr lang="fr-FR" sz="3100" dirty="0" smtClean="0">
                <a:latin typeface="Calibri" pitchFamily="34" charset="0"/>
              </a:rPr>
              <a:t>Pays et ville de naissance.</a:t>
            </a:r>
          </a:p>
          <a:p>
            <a:pPr>
              <a:buFont typeface="Wingdings" pitchFamily="2" charset="2"/>
              <a:buChar char="ü"/>
            </a:pPr>
            <a:r>
              <a:rPr lang="fr-FR" sz="3100" dirty="0" smtClean="0">
                <a:latin typeface="Calibri" pitchFamily="34" charset="0"/>
              </a:rPr>
              <a:t>Adresse et numéro de téléphone.</a:t>
            </a:r>
          </a:p>
          <a:p>
            <a:pPr>
              <a:buFont typeface="Wingdings" pitchFamily="2" charset="2"/>
              <a:buChar char="ü"/>
            </a:pPr>
            <a:r>
              <a:rPr lang="fr-FR" sz="3100" dirty="0" smtClean="0">
                <a:latin typeface="Calibri" pitchFamily="34" charset="0"/>
              </a:rPr>
              <a:t>Profession  ++++</a:t>
            </a:r>
          </a:p>
          <a:p>
            <a:pPr>
              <a:buFont typeface="Wingdings" pitchFamily="2" charset="2"/>
              <a:buChar char="ü"/>
            </a:pPr>
            <a:r>
              <a:rPr lang="fr-FR" sz="3100" dirty="0" smtClean="0">
                <a:latin typeface="Calibri" pitchFamily="34" charset="0"/>
              </a:rPr>
              <a:t>Couverture sociale</a:t>
            </a:r>
          </a:p>
          <a:p>
            <a:pPr>
              <a:buFont typeface="Wingdings" pitchFamily="2" charset="2"/>
              <a:buChar char="ü"/>
            </a:pPr>
            <a:r>
              <a:rPr lang="fr-FR" sz="3100" dirty="0" smtClean="0">
                <a:latin typeface="Calibri" pitchFamily="34" charset="0"/>
              </a:rPr>
              <a:t>Nom  du médecin traitant et des divers médecins spécialistes prenant en charge le patient.</a:t>
            </a:r>
            <a:endParaRPr lang="fr-FR" sz="3100" b="1" dirty="0" smtClean="0">
              <a:latin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INTERROGATOIRE</a:t>
            </a:r>
            <a:endParaRPr lang="fr-FR" dirty="0"/>
          </a:p>
        </p:txBody>
      </p:sp>
      <p:sp>
        <p:nvSpPr>
          <p:cNvPr id="3" name="Espace réservé du contenu 2"/>
          <p:cNvSpPr>
            <a:spLocks noGrp="1"/>
          </p:cNvSpPr>
          <p:nvPr>
            <p:ph sz="quarter" idx="1"/>
          </p:nvPr>
        </p:nvSpPr>
        <p:spPr>
          <a:xfrm>
            <a:off x="571472" y="1600200"/>
            <a:ext cx="8194576" cy="4900634"/>
          </a:xfrm>
        </p:spPr>
        <p:txBody>
          <a:bodyPr>
            <a:noAutofit/>
          </a:bodyPr>
          <a:lstStyle/>
          <a:p>
            <a:r>
              <a:rPr lang="fr-FR" sz="2800" b="1" dirty="0" smtClean="0">
                <a:latin typeface="Calibri" pitchFamily="34" charset="0"/>
                <a:cs typeface="Calibri" pitchFamily="34" charset="0"/>
              </a:rPr>
              <a:t>Motif de consultation</a:t>
            </a:r>
          </a:p>
          <a:p>
            <a:pPr>
              <a:buFont typeface="Wingdings" pitchFamily="2" charset="2"/>
              <a:buChar char="ü"/>
            </a:pPr>
            <a:r>
              <a:rPr lang="fr-FR" sz="2800" dirty="0" smtClean="0">
                <a:latin typeface="Calibri" pitchFamily="34" charset="0"/>
                <a:cs typeface="Calibri" pitchFamily="34" charset="0"/>
              </a:rPr>
              <a:t>Déterminer ce qui gêne le patient, c'est donc une plainte, un symptôme.</a:t>
            </a:r>
          </a:p>
          <a:p>
            <a:pPr>
              <a:buFont typeface="Wingdings" pitchFamily="2" charset="2"/>
              <a:buChar char="ü"/>
            </a:pPr>
            <a:r>
              <a:rPr lang="fr-FR" sz="2800" dirty="0" smtClean="0">
                <a:latin typeface="Calibri" pitchFamily="34" charset="0"/>
                <a:cs typeface="Calibri" pitchFamily="34" charset="0"/>
              </a:rPr>
              <a:t>La confusion entre </a:t>
            </a:r>
            <a:r>
              <a:rPr lang="fr-FR" sz="2800" b="1" dirty="0" smtClean="0">
                <a:solidFill>
                  <a:srgbClr val="C00000"/>
                </a:solidFill>
                <a:latin typeface="Calibri" pitchFamily="34" charset="0"/>
                <a:cs typeface="Calibri" pitchFamily="34" charset="0"/>
              </a:rPr>
              <a:t>motif de consultation et diagnostic est source d'erreur médicale !</a:t>
            </a:r>
          </a:p>
          <a:p>
            <a:r>
              <a:rPr lang="fr-FR" sz="2800" dirty="0" smtClean="0">
                <a:latin typeface="Calibri" pitchFamily="34" charset="0"/>
                <a:cs typeface="Calibri" pitchFamily="34" charset="0"/>
              </a:rPr>
              <a:t>Par exemple, le motif d'une hospitalisation ne peut être celui d'une « pneumopathie ». Le patient « consulte pour une toux et de la fièvre», et c'est au terme de la démarche </a:t>
            </a:r>
            <a:r>
              <a:rPr lang="fr-FR" sz="2800" dirty="0" err="1" smtClean="0">
                <a:latin typeface="Calibri" pitchFamily="34" charset="0"/>
                <a:cs typeface="Calibri" pitchFamily="34" charset="0"/>
              </a:rPr>
              <a:t>médicaleque</a:t>
            </a:r>
            <a:r>
              <a:rPr lang="fr-FR" sz="2800" dirty="0" smtClean="0">
                <a:latin typeface="Calibri" pitchFamily="34" charset="0"/>
                <a:cs typeface="Calibri" pitchFamily="34" charset="0"/>
              </a:rPr>
              <a:t> l'on conclura à une pneumopathie, une péricardite ou une embolie pulmonaire !</a:t>
            </a:r>
          </a:p>
          <a:p>
            <a:pPr>
              <a:buFont typeface="Wingdings" pitchFamily="2" charset="2"/>
              <a:buChar char="ü"/>
            </a:pPr>
            <a:endParaRPr lang="fr-FR" sz="2800" dirty="0" smtClean="0">
              <a:latin typeface="Calibri" pitchFamily="34" charset="0"/>
              <a:cs typeface="Calibri" pitchFamily="34" charset="0"/>
            </a:endParaRPr>
          </a:p>
          <a:p>
            <a:pPr>
              <a:buNone/>
            </a:pPr>
            <a:endParaRPr lang="fr-FR" sz="2800" dirty="0" smtClean="0">
              <a:latin typeface="Calibri" pitchFamily="34" charset="0"/>
              <a:cs typeface="Calibri" pitchFamily="34" charset="0"/>
            </a:endParaRPr>
          </a:p>
          <a:p>
            <a:endParaRPr lang="fr-FR" sz="2800"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         INTERROGATOIRE</a:t>
            </a:r>
            <a:endParaRPr lang="fr-FR" b="1" dirty="0"/>
          </a:p>
        </p:txBody>
      </p:sp>
      <p:sp>
        <p:nvSpPr>
          <p:cNvPr id="3" name="Espace réservé du contenu 2"/>
          <p:cNvSpPr>
            <a:spLocks noGrp="1"/>
          </p:cNvSpPr>
          <p:nvPr>
            <p:ph sz="quarter" idx="1"/>
          </p:nvPr>
        </p:nvSpPr>
        <p:spPr>
          <a:xfrm>
            <a:off x="285720" y="1857364"/>
            <a:ext cx="8480328" cy="4786346"/>
          </a:xfrm>
        </p:spPr>
        <p:txBody>
          <a:bodyPr>
            <a:normAutofit/>
          </a:bodyPr>
          <a:lstStyle/>
          <a:p>
            <a:r>
              <a:rPr lang="fr-FR" sz="2800" b="1" dirty="0" smtClean="0">
                <a:latin typeface="Calibri" pitchFamily="34" charset="0"/>
              </a:rPr>
              <a:t>ANTECEDANTS:</a:t>
            </a:r>
            <a:endParaRPr lang="fr-FR" sz="2800" dirty="0" smtClean="0">
              <a:latin typeface="Calibri" pitchFamily="34" charset="0"/>
            </a:endParaRPr>
          </a:p>
          <a:p>
            <a:pPr>
              <a:buFont typeface="Wingdings" pitchFamily="2" charset="2"/>
              <a:buChar char="Ø"/>
            </a:pPr>
            <a:r>
              <a:rPr lang="fr-FR" sz="2800" b="1" u="sng" dirty="0" smtClean="0">
                <a:latin typeface="Calibri" pitchFamily="34" charset="0"/>
              </a:rPr>
              <a:t>Familiaux</a:t>
            </a:r>
            <a:r>
              <a:rPr lang="fr-FR" sz="2800" dirty="0" smtClean="0">
                <a:latin typeface="Calibri" pitchFamily="34" charset="0"/>
              </a:rPr>
              <a:t>: Notion de contage tuberculeux, </a:t>
            </a:r>
            <a:r>
              <a:rPr lang="fr-FR" sz="2800" i="1" dirty="0" smtClean="0">
                <a:latin typeface="Calibri" pitchFamily="34" charset="0"/>
              </a:rPr>
              <a:t>maladies génétiques, </a:t>
            </a:r>
            <a:r>
              <a:rPr lang="fr-FR" sz="2800" i="1" dirty="0" err="1" smtClean="0">
                <a:latin typeface="Calibri" pitchFamily="34" charset="0"/>
              </a:rPr>
              <a:t>atopie</a:t>
            </a:r>
            <a:r>
              <a:rPr lang="fr-FR" sz="2800" i="1" dirty="0" smtClean="0">
                <a:latin typeface="Calibri" pitchFamily="34" charset="0"/>
              </a:rPr>
              <a:t>…</a:t>
            </a:r>
            <a:endParaRPr lang="fr-FR" sz="5100" dirty="0" smtClean="0">
              <a:latin typeface="Calibri" pitchFamily="34" charset="0"/>
            </a:endParaRPr>
          </a:p>
          <a:p>
            <a:r>
              <a:rPr lang="fr-FR" dirty="0" smtClean="0"/>
              <a:t>Parents, frères et sœurs, enfants: maladies qu'ils ont présentées, âge et cause de leur décès</a:t>
            </a:r>
            <a:endParaRPr lang="fr-F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INTERROGATOIRE</a:t>
            </a:r>
            <a:endParaRPr lang="fr-FR" dirty="0"/>
          </a:p>
        </p:txBody>
      </p:sp>
      <p:sp>
        <p:nvSpPr>
          <p:cNvPr id="3" name="Espace réservé du contenu 2"/>
          <p:cNvSpPr>
            <a:spLocks noGrp="1"/>
          </p:cNvSpPr>
          <p:nvPr>
            <p:ph sz="quarter" idx="1"/>
          </p:nvPr>
        </p:nvSpPr>
        <p:spPr>
          <a:xfrm>
            <a:off x="214282" y="1600200"/>
            <a:ext cx="8551766" cy="4829196"/>
          </a:xfrm>
        </p:spPr>
        <p:txBody>
          <a:bodyPr>
            <a:normAutofit lnSpcReduction="10000"/>
          </a:bodyPr>
          <a:lstStyle/>
          <a:p>
            <a:pPr marL="514350" indent="-514350">
              <a:buNone/>
            </a:pPr>
            <a:r>
              <a:rPr lang="fr-FR" sz="2400" b="1" dirty="0" smtClean="0">
                <a:latin typeface="Calibri" pitchFamily="34" charset="0"/>
              </a:rPr>
              <a:t>ANTECEDANTS:</a:t>
            </a:r>
            <a:endParaRPr lang="fr-FR" sz="2400" b="1" u="sng" dirty="0" smtClean="0">
              <a:latin typeface="Calibri" pitchFamily="34" charset="0"/>
            </a:endParaRPr>
          </a:p>
          <a:p>
            <a:pPr>
              <a:buFont typeface="Wingdings" pitchFamily="2" charset="2"/>
              <a:buChar char="Ø"/>
            </a:pPr>
            <a:r>
              <a:rPr lang="fr-FR" sz="2400" b="1" u="sng" dirty="0" smtClean="0">
                <a:latin typeface="Calibri" pitchFamily="34" charset="0"/>
              </a:rPr>
              <a:t>Personnels</a:t>
            </a:r>
            <a:r>
              <a:rPr lang="fr-FR" sz="2400" dirty="0" smtClean="0">
                <a:latin typeface="Calibri" pitchFamily="34" charset="0"/>
              </a:rPr>
              <a:t>: </a:t>
            </a:r>
          </a:p>
          <a:p>
            <a:pPr>
              <a:buFont typeface="Wingdings" pitchFamily="2" charset="2"/>
              <a:buChar char="v"/>
            </a:pPr>
            <a:r>
              <a:rPr lang="fr-FR" sz="2400" dirty="0" smtClean="0">
                <a:latin typeface="Calibri" pitchFamily="34" charset="0"/>
              </a:rPr>
              <a:t>Vaccinations: </a:t>
            </a:r>
            <a:r>
              <a:rPr lang="fr-FR" sz="2400" i="1" dirty="0" smtClean="0">
                <a:latin typeface="Calibri" pitchFamily="34" charset="0"/>
              </a:rPr>
              <a:t>BCG, Coqueluche, Grippe, carnet de vaccination </a:t>
            </a:r>
          </a:p>
          <a:p>
            <a:pPr>
              <a:buFont typeface="Wingdings" pitchFamily="2" charset="2"/>
              <a:buChar char="v"/>
            </a:pPr>
            <a:r>
              <a:rPr lang="fr-FR" sz="2400" dirty="0" smtClean="0">
                <a:latin typeface="Calibri" pitchFamily="34" charset="0"/>
              </a:rPr>
              <a:t>Radios antérieurs  et IDR si valeur connue</a:t>
            </a:r>
          </a:p>
          <a:p>
            <a:pPr>
              <a:buFont typeface="Wingdings" pitchFamily="2" charset="2"/>
              <a:buChar char="v"/>
            </a:pPr>
            <a:r>
              <a:rPr lang="fr-FR" sz="2400" dirty="0" smtClean="0">
                <a:latin typeface="Calibri" pitchFamily="34" charset="0"/>
              </a:rPr>
              <a:t>Maladies antérieures respiratoires </a:t>
            </a:r>
            <a:r>
              <a:rPr lang="fr-FR" sz="2400" i="1" dirty="0" smtClean="0">
                <a:latin typeface="Calibri" pitchFamily="34" charset="0"/>
              </a:rPr>
              <a:t>( Tuberculose, asthme, bronchiolites, coqueluche…) </a:t>
            </a:r>
            <a:r>
              <a:rPr lang="fr-FR" sz="2400" dirty="0" smtClean="0">
                <a:latin typeface="Calibri" pitchFamily="34" charset="0"/>
              </a:rPr>
              <a:t>et extra respiratoires (</a:t>
            </a:r>
            <a:r>
              <a:rPr lang="fr-FR" sz="2400" i="1" dirty="0" smtClean="0">
                <a:latin typeface="Calibri" pitchFamily="34" charset="0"/>
              </a:rPr>
              <a:t>ORL, RGO, </a:t>
            </a:r>
            <a:r>
              <a:rPr lang="fr-FR" sz="2400" i="1" dirty="0" err="1" smtClean="0">
                <a:latin typeface="Calibri" pitchFamily="34" charset="0"/>
              </a:rPr>
              <a:t>Cardio</a:t>
            </a:r>
            <a:r>
              <a:rPr lang="fr-FR" sz="2400" i="1" dirty="0" smtClean="0">
                <a:latin typeface="Calibri" pitchFamily="34" charset="0"/>
              </a:rPr>
              <a:t>, anémie, hyperthyroïdie…)</a:t>
            </a:r>
          </a:p>
          <a:p>
            <a:pPr>
              <a:buFont typeface="Wingdings" pitchFamily="2" charset="2"/>
              <a:buChar char="v"/>
            </a:pPr>
            <a:r>
              <a:rPr lang="fr-FR" sz="2400" dirty="0" smtClean="0">
                <a:latin typeface="Calibri" pitchFamily="34" charset="0"/>
              </a:rPr>
              <a:t>Prises médicamenteuses (Béta-, IEC, </a:t>
            </a:r>
            <a:r>
              <a:rPr lang="fr-FR" sz="2400" dirty="0" err="1" smtClean="0">
                <a:latin typeface="Calibri" pitchFamily="34" charset="0"/>
              </a:rPr>
              <a:t>Cordarone</a:t>
            </a:r>
            <a:r>
              <a:rPr lang="fr-FR" sz="2400" dirty="0" smtClean="0">
                <a:latin typeface="Calibri" pitchFamily="34" charset="0"/>
              </a:rPr>
              <a:t>, </a:t>
            </a:r>
            <a:r>
              <a:rPr lang="fr-FR" sz="2400" dirty="0" err="1" smtClean="0">
                <a:latin typeface="Calibri" pitchFamily="34" charset="0"/>
              </a:rPr>
              <a:t>hormone,anorexigene</a:t>
            </a:r>
            <a:r>
              <a:rPr lang="fr-FR" sz="2400" dirty="0" smtClean="0">
                <a:latin typeface="Calibri" pitchFamily="34" charset="0"/>
              </a:rPr>
              <a:t> …)</a:t>
            </a:r>
          </a:p>
          <a:p>
            <a:pPr>
              <a:buFont typeface="Wingdings" pitchFamily="2" charset="2"/>
              <a:buChar char="v"/>
            </a:pPr>
            <a:r>
              <a:rPr lang="fr-FR" sz="2400" dirty="0" smtClean="0">
                <a:latin typeface="Calibri" pitchFamily="34" charset="0"/>
              </a:rPr>
              <a:t>Environnement domestique  et professionnel+++</a:t>
            </a:r>
          </a:p>
          <a:p>
            <a:pPr>
              <a:buFont typeface="Wingdings" pitchFamily="2" charset="2"/>
              <a:buChar char="v"/>
            </a:pPr>
            <a:r>
              <a:rPr lang="fr-FR" sz="2400" dirty="0" smtClean="0">
                <a:latin typeface="Calibri" pitchFamily="34" charset="0"/>
              </a:rPr>
              <a:t>ATCD chirurgicaux</a:t>
            </a:r>
          </a:p>
          <a:p>
            <a:pPr>
              <a:buFont typeface="Wingdings" pitchFamily="2" charset="2"/>
              <a:buChar char="v"/>
            </a:pPr>
            <a:r>
              <a:rPr lang="fr-FR" sz="2400" dirty="0" smtClean="0">
                <a:latin typeface="Calibri" pitchFamily="34" charset="0"/>
              </a:rPr>
              <a:t>ATCD gynéco-obstétricaux</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INTERROGATOIRE</a:t>
            </a:r>
            <a:endParaRPr lang="fr-FR" b="1" dirty="0"/>
          </a:p>
        </p:txBody>
      </p:sp>
      <p:sp>
        <p:nvSpPr>
          <p:cNvPr id="3" name="Espace réservé du contenu 2"/>
          <p:cNvSpPr>
            <a:spLocks noGrp="1"/>
          </p:cNvSpPr>
          <p:nvPr>
            <p:ph sz="quarter" idx="1"/>
          </p:nvPr>
        </p:nvSpPr>
        <p:spPr>
          <a:xfrm>
            <a:off x="612648" y="2143116"/>
            <a:ext cx="8153400" cy="3952884"/>
          </a:xfrm>
        </p:spPr>
        <p:txBody>
          <a:bodyPr>
            <a:normAutofit lnSpcReduction="10000"/>
          </a:bodyPr>
          <a:lstStyle/>
          <a:p>
            <a:pPr>
              <a:buFont typeface="Wingdings" pitchFamily="2" charset="2"/>
              <a:buChar char="q"/>
            </a:pPr>
            <a:r>
              <a:rPr lang="fr-FR" b="1" dirty="0" smtClean="0">
                <a:latin typeface="Calibri" pitchFamily="34" charset="0"/>
              </a:rPr>
              <a:t>Tabagisme : </a:t>
            </a:r>
          </a:p>
          <a:p>
            <a:pPr>
              <a:buFont typeface="Wingdings" pitchFamily="2" charset="2"/>
              <a:buChar char="Ø"/>
            </a:pPr>
            <a:r>
              <a:rPr lang="fr-FR" b="1" dirty="0" smtClean="0">
                <a:latin typeface="Calibri" pitchFamily="34" charset="0"/>
              </a:rPr>
              <a:t>  </a:t>
            </a:r>
            <a:r>
              <a:rPr lang="fr-FR" dirty="0" smtClean="0">
                <a:latin typeface="Calibri" pitchFamily="34" charset="0"/>
              </a:rPr>
              <a:t>Actif ou passif</a:t>
            </a:r>
          </a:p>
          <a:p>
            <a:pPr>
              <a:buFont typeface="Wingdings" pitchFamily="2" charset="2"/>
              <a:buChar char="Ø"/>
            </a:pPr>
            <a:r>
              <a:rPr lang="fr-FR" b="1" dirty="0" smtClean="0">
                <a:latin typeface="Calibri" pitchFamily="34" charset="0"/>
              </a:rPr>
              <a:t> </a:t>
            </a:r>
            <a:r>
              <a:rPr lang="fr-FR" dirty="0" smtClean="0">
                <a:latin typeface="Calibri" pitchFamily="34" charset="0"/>
              </a:rPr>
              <a:t>Type (cigarette, pipe, </a:t>
            </a:r>
            <a:r>
              <a:rPr lang="fr-FR" dirty="0" err="1" smtClean="0">
                <a:latin typeface="Calibri" pitchFamily="34" charset="0"/>
              </a:rPr>
              <a:t>chicha</a:t>
            </a:r>
            <a:r>
              <a:rPr lang="fr-FR" dirty="0" smtClean="0">
                <a:latin typeface="Calibri" pitchFamily="34" charset="0"/>
              </a:rPr>
              <a:t>…)</a:t>
            </a:r>
          </a:p>
          <a:p>
            <a:pPr>
              <a:buFont typeface="Wingdings" pitchFamily="2" charset="2"/>
              <a:buChar char="§"/>
            </a:pPr>
            <a:r>
              <a:rPr lang="fr-FR" dirty="0" smtClean="0">
                <a:latin typeface="Calibri" pitchFamily="34" charset="0"/>
              </a:rPr>
              <a:t> Quantité : UN PAQUET ANNEE = UN PAQUET DE CIGARETTE/JOUR /AN</a:t>
            </a:r>
          </a:p>
          <a:p>
            <a:pPr>
              <a:buFont typeface="Wingdings" pitchFamily="2" charset="2"/>
              <a:buChar char="§"/>
            </a:pPr>
            <a:r>
              <a:rPr lang="fr-FR" dirty="0" smtClean="0">
                <a:latin typeface="Calibri" pitchFamily="34" charset="0"/>
              </a:rPr>
              <a:t>      Arrêté ou sevré, depuis quand ?</a:t>
            </a:r>
          </a:p>
          <a:p>
            <a:pPr>
              <a:buFont typeface="Wingdings" pitchFamily="2" charset="2"/>
              <a:buChar char="§"/>
            </a:pPr>
            <a:endParaRPr lang="fr-FR" dirty="0" smtClean="0">
              <a:latin typeface="Calibri" pitchFamily="34" charset="0"/>
            </a:endParaRPr>
          </a:p>
          <a:p>
            <a:pPr>
              <a:buNone/>
            </a:pPr>
            <a:r>
              <a:rPr lang="fr-FR" dirty="0" smtClean="0">
                <a:latin typeface="Calibri" pitchFamily="34" charset="0"/>
              </a:rPr>
              <a:t>      </a:t>
            </a:r>
          </a:p>
          <a:p>
            <a:endParaRPr lang="fr-FR" dirty="0">
              <a:latin typeface="Calibri"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Habitude et mode de vie +++</a:t>
            </a:r>
            <a:br>
              <a:rPr lang="fr-FR" dirty="0" smtClean="0"/>
            </a:br>
            <a:endParaRPr lang="fr-FR" dirty="0"/>
          </a:p>
        </p:txBody>
      </p:sp>
      <p:sp>
        <p:nvSpPr>
          <p:cNvPr id="3" name="Espace réservé du contenu 2"/>
          <p:cNvSpPr>
            <a:spLocks noGrp="1"/>
          </p:cNvSpPr>
          <p:nvPr>
            <p:ph sz="quarter" idx="1"/>
          </p:nvPr>
        </p:nvSpPr>
        <p:spPr>
          <a:xfrm>
            <a:off x="285720" y="1500174"/>
            <a:ext cx="8572560" cy="5357826"/>
          </a:xfrm>
        </p:spPr>
        <p:txBody>
          <a:bodyPr>
            <a:normAutofit fontScale="25000" lnSpcReduction="20000"/>
          </a:bodyPr>
          <a:lstStyle/>
          <a:p>
            <a:pPr algn="just">
              <a:lnSpc>
                <a:spcPct val="120000"/>
              </a:lnSpc>
            </a:pPr>
            <a:r>
              <a:rPr lang="fr-FR" sz="9600" dirty="0" smtClean="0">
                <a:latin typeface="Calibri" pitchFamily="34" charset="0"/>
                <a:cs typeface="Calibri" pitchFamily="34" charset="0"/>
              </a:rPr>
              <a:t>L'histoire de la maladie ne suffit pas, il faut aussi l'histoire du malade !</a:t>
            </a:r>
          </a:p>
          <a:p>
            <a:pPr algn="just">
              <a:lnSpc>
                <a:spcPct val="120000"/>
              </a:lnSpc>
            </a:pPr>
            <a:r>
              <a:rPr lang="fr-FR" sz="9600" dirty="0" smtClean="0">
                <a:latin typeface="Calibri" pitchFamily="34" charset="0"/>
                <a:cs typeface="Calibri" pitchFamily="34" charset="0"/>
              </a:rPr>
              <a:t>Profession : exposition toxique, stress, chômage. </a:t>
            </a:r>
          </a:p>
          <a:p>
            <a:pPr algn="just">
              <a:lnSpc>
                <a:spcPct val="120000"/>
              </a:lnSpc>
            </a:pPr>
            <a:r>
              <a:rPr lang="fr-FR" sz="9600" dirty="0" smtClean="0">
                <a:latin typeface="Calibri" pitchFamily="34" charset="0"/>
                <a:cs typeface="Calibri" pitchFamily="34" charset="0"/>
              </a:rPr>
              <a:t>Toxicomanie, alcoolisme, tabagisme</a:t>
            </a:r>
          </a:p>
          <a:p>
            <a:pPr algn="just">
              <a:lnSpc>
                <a:spcPct val="120000"/>
              </a:lnSpc>
            </a:pPr>
            <a:r>
              <a:rPr lang="fr-FR" sz="9600" dirty="0" smtClean="0">
                <a:latin typeface="Calibri" pitchFamily="34" charset="0"/>
                <a:cs typeface="Calibri" pitchFamily="34" charset="0"/>
              </a:rPr>
              <a:t>Séjour en zone tropicale</a:t>
            </a:r>
            <a:r>
              <a:rPr lang="fr-FR" sz="12800" dirty="0" smtClean="0">
                <a:latin typeface="Calibri" pitchFamily="34" charset="0"/>
                <a:cs typeface="Calibri" pitchFamily="34" charset="0"/>
              </a:rPr>
              <a:t>, </a:t>
            </a:r>
            <a:r>
              <a:rPr lang="fr-FR" sz="9600" dirty="0" smtClean="0">
                <a:latin typeface="Calibri" pitchFamily="34" charset="0"/>
                <a:cs typeface="Calibri" pitchFamily="34" charset="0"/>
              </a:rPr>
              <a:t>date du dernier voyage </a:t>
            </a:r>
          </a:p>
          <a:p>
            <a:pPr algn="just">
              <a:lnSpc>
                <a:spcPct val="120000"/>
              </a:lnSpc>
            </a:pPr>
            <a:r>
              <a:rPr lang="fr-FR" sz="9600" dirty="0" smtClean="0">
                <a:latin typeface="Calibri" pitchFamily="34" charset="0"/>
                <a:cs typeface="Calibri" pitchFamily="34" charset="0"/>
              </a:rPr>
              <a:t>Présence d'animaux au domicile. </a:t>
            </a:r>
          </a:p>
          <a:p>
            <a:pPr algn="just">
              <a:lnSpc>
                <a:spcPct val="120000"/>
              </a:lnSpc>
            </a:pPr>
            <a:r>
              <a:rPr lang="fr-FR" sz="9600" dirty="0" smtClean="0">
                <a:latin typeface="Calibri" pitchFamily="34" charset="0"/>
                <a:cs typeface="Calibri" pitchFamily="34" charset="0"/>
              </a:rPr>
              <a:t>Orientation sexuelle. </a:t>
            </a:r>
          </a:p>
          <a:p>
            <a:pPr algn="just">
              <a:lnSpc>
                <a:spcPct val="120000"/>
              </a:lnSpc>
            </a:pPr>
            <a:r>
              <a:rPr lang="fr-FR" sz="9600" dirty="0" smtClean="0">
                <a:latin typeface="Calibri" pitchFamily="34" charset="0"/>
                <a:cs typeface="Calibri" pitchFamily="34" charset="0"/>
              </a:rPr>
              <a:t>Habitudes alimentaires particulières (sans sel, végétarien...). </a:t>
            </a:r>
          </a:p>
          <a:p>
            <a:pPr algn="just">
              <a:lnSpc>
                <a:spcPct val="120000"/>
              </a:lnSpc>
            </a:pPr>
            <a:r>
              <a:rPr lang="fr-FR" sz="9600" dirty="0" smtClean="0">
                <a:latin typeface="Calibri" pitchFamily="34" charset="0"/>
                <a:cs typeface="Calibri" pitchFamily="34" charset="0"/>
              </a:rPr>
              <a:t>Logement: hygiène, promiscuité, </a:t>
            </a:r>
          </a:p>
          <a:p>
            <a:pPr algn="just">
              <a:lnSpc>
                <a:spcPct val="120000"/>
              </a:lnSpc>
              <a:buNone/>
            </a:pPr>
            <a:endParaRPr lang="fr-FR" sz="7200"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228600"/>
            <a:ext cx="8408890" cy="990600"/>
          </a:xfrm>
        </p:spPr>
        <p:txBody>
          <a:bodyPr>
            <a:normAutofit fontScale="90000"/>
          </a:bodyPr>
          <a:lstStyle/>
          <a:p>
            <a:r>
              <a:rPr lang="fr-FR" b="1" dirty="0" smtClean="0"/>
              <a:t>INTERROGATOIRE </a:t>
            </a:r>
            <a:r>
              <a:rPr lang="fr-FR" sz="3600" b="1" dirty="0" smtClean="0"/>
              <a:t>(Histoire de la maladie)</a:t>
            </a:r>
            <a:endParaRPr lang="fr-FR" sz="3600" b="1" dirty="0"/>
          </a:p>
        </p:txBody>
      </p:sp>
      <p:sp>
        <p:nvSpPr>
          <p:cNvPr id="3" name="Espace réservé du contenu 2"/>
          <p:cNvSpPr>
            <a:spLocks noGrp="1"/>
          </p:cNvSpPr>
          <p:nvPr>
            <p:ph sz="quarter" idx="1"/>
          </p:nvPr>
        </p:nvSpPr>
        <p:spPr>
          <a:xfrm>
            <a:off x="500034" y="1643050"/>
            <a:ext cx="8153400" cy="5214950"/>
          </a:xfrm>
        </p:spPr>
        <p:txBody>
          <a:bodyPr>
            <a:normAutofit fontScale="85000" lnSpcReduction="20000"/>
          </a:bodyPr>
          <a:lstStyle/>
          <a:p>
            <a:r>
              <a:rPr lang="fr-FR" b="1" dirty="0" smtClean="0">
                <a:solidFill>
                  <a:srgbClr val="FF0000"/>
                </a:solidFill>
              </a:rPr>
              <a:t>Il n'y a pas de bonne médecine sans une histoire claire de la maladie.</a:t>
            </a:r>
          </a:p>
          <a:p>
            <a:endParaRPr lang="fr-FR" b="1" dirty="0" smtClean="0">
              <a:solidFill>
                <a:srgbClr val="FF0000"/>
              </a:solidFill>
            </a:endParaRPr>
          </a:p>
          <a:p>
            <a:r>
              <a:rPr lang="fr-FR" dirty="0" smtClean="0"/>
              <a:t>Préciser les symptômes selon 7 critères :</a:t>
            </a:r>
          </a:p>
          <a:p>
            <a:endParaRPr lang="fr-FR" dirty="0" smtClean="0"/>
          </a:p>
          <a:p>
            <a:pPr>
              <a:buNone/>
            </a:pPr>
            <a:r>
              <a:rPr lang="fr-FR" dirty="0" smtClean="0"/>
              <a:t>1. Localisation des troubles.</a:t>
            </a:r>
          </a:p>
          <a:p>
            <a:pPr>
              <a:buNone/>
            </a:pPr>
            <a:r>
              <a:rPr lang="fr-FR" dirty="0" smtClean="0"/>
              <a:t>2. Début : quand, occupation du patient lors de la survenue des troubles, installation brutale ou progressive.</a:t>
            </a:r>
          </a:p>
          <a:p>
            <a:pPr>
              <a:buNone/>
            </a:pPr>
            <a:r>
              <a:rPr lang="fr-FR" dirty="0" smtClean="0"/>
              <a:t>3. Qualité des troubles.</a:t>
            </a:r>
          </a:p>
          <a:p>
            <a:pPr>
              <a:buNone/>
            </a:pPr>
            <a:r>
              <a:rPr lang="fr-FR" dirty="0" smtClean="0"/>
              <a:t>4. Rythme, durée des manifestations.</a:t>
            </a:r>
          </a:p>
          <a:p>
            <a:pPr>
              <a:buNone/>
            </a:pPr>
            <a:r>
              <a:rPr lang="fr-FR" dirty="0" smtClean="0"/>
              <a:t>5. Intensité, retentissement sur le quotidien.</a:t>
            </a:r>
          </a:p>
          <a:p>
            <a:pPr>
              <a:buNone/>
            </a:pPr>
            <a:r>
              <a:rPr lang="fr-FR" dirty="0" smtClean="0"/>
              <a:t>6. Facteurs qui aggravent et soulagent.</a:t>
            </a:r>
          </a:p>
          <a:p>
            <a:pPr>
              <a:buNone/>
            </a:pPr>
            <a:r>
              <a:rPr lang="fr-FR" dirty="0" smtClean="0"/>
              <a:t>7. Manifestations associées</a:t>
            </a:r>
            <a:endParaRPr lang="fr-F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b="1" dirty="0" smtClean="0"/>
              <a:t>INTERROGATOIRE </a:t>
            </a:r>
            <a:r>
              <a:rPr lang="fr-FR" sz="2800" b="1" dirty="0" smtClean="0"/>
              <a:t>(Détailler les signes fonctionnels respiratoires</a:t>
            </a:r>
            <a:r>
              <a:rPr lang="fr-FR" sz="2800" dirty="0" smtClean="0"/>
              <a:t>)</a:t>
            </a:r>
            <a:endParaRPr lang="fr-FR" sz="3600" dirty="0"/>
          </a:p>
        </p:txBody>
      </p:sp>
      <p:sp>
        <p:nvSpPr>
          <p:cNvPr id="3" name="Espace réservé du contenu 2"/>
          <p:cNvSpPr>
            <a:spLocks noGrp="1"/>
          </p:cNvSpPr>
          <p:nvPr>
            <p:ph sz="quarter" idx="1"/>
          </p:nvPr>
        </p:nvSpPr>
        <p:spPr>
          <a:xfrm>
            <a:off x="214282" y="1500174"/>
            <a:ext cx="8478670" cy="5143536"/>
          </a:xfrm>
        </p:spPr>
        <p:txBody>
          <a:bodyPr>
            <a:noAutofit/>
          </a:bodyPr>
          <a:lstStyle/>
          <a:p>
            <a:r>
              <a:rPr lang="fr-FR" sz="2000" b="1" dirty="0" smtClean="0">
                <a:latin typeface="Calibri" pitchFamily="34" charset="0"/>
                <a:cs typeface="Calibri" pitchFamily="34" charset="0"/>
              </a:rPr>
              <a:t>TOUX:  </a:t>
            </a:r>
            <a:r>
              <a:rPr lang="fr-FR" sz="2000" dirty="0" smtClean="0">
                <a:latin typeface="Calibri" pitchFamily="34" charset="0"/>
                <a:cs typeface="Calibri" pitchFamily="34" charset="0"/>
              </a:rPr>
              <a:t>Ancienneté (aigue (&lt;8 SEMAINES )/chronique(&gt; 8 SEMAINES ) </a:t>
            </a:r>
          </a:p>
          <a:p>
            <a:pPr>
              <a:buNone/>
            </a:pPr>
            <a:r>
              <a:rPr lang="fr-FR" sz="2000" dirty="0" smtClean="0">
                <a:latin typeface="Calibri" pitchFamily="34" charset="0"/>
                <a:cs typeface="Calibri" pitchFamily="34" charset="0"/>
              </a:rPr>
              <a:t>                  horaire, facteurs déclenchants, sèche ou grasse…</a:t>
            </a:r>
            <a:endParaRPr lang="fr-FR" sz="2000" b="1" dirty="0" smtClean="0">
              <a:latin typeface="Calibri" pitchFamily="34" charset="0"/>
              <a:cs typeface="Calibri" pitchFamily="34" charset="0"/>
            </a:endParaRPr>
          </a:p>
          <a:p>
            <a:r>
              <a:rPr lang="fr-FR" sz="2000" b="1" dirty="0" smtClean="0">
                <a:latin typeface="Calibri" pitchFamily="34" charset="0"/>
                <a:cs typeface="Calibri" pitchFamily="34" charset="0"/>
              </a:rPr>
              <a:t>EXPECTORATION</a:t>
            </a:r>
            <a:r>
              <a:rPr lang="fr-FR" sz="2000" dirty="0" smtClean="0">
                <a:latin typeface="Calibri" pitchFamily="34" charset="0"/>
                <a:cs typeface="Calibri" pitchFamily="34" charset="0"/>
              </a:rPr>
              <a:t>:  Ancienneté, couleur, odeur, abondance…</a:t>
            </a:r>
          </a:p>
          <a:p>
            <a:r>
              <a:rPr lang="fr-FR" sz="2000" b="1" dirty="0" smtClean="0">
                <a:latin typeface="Calibri" pitchFamily="34" charset="0"/>
                <a:cs typeface="Calibri" pitchFamily="34" charset="0"/>
              </a:rPr>
              <a:t>HEMOPTYSIE:  Rejet par la bouche de sang d’origine sous glotique</a:t>
            </a:r>
          </a:p>
          <a:p>
            <a:pPr>
              <a:buFont typeface="Wingdings" pitchFamily="2" charset="2"/>
              <a:buChar char="Ø"/>
            </a:pPr>
            <a:r>
              <a:rPr lang="fr-FR" sz="2000" dirty="0" smtClean="0">
                <a:latin typeface="Calibri" pitchFamily="34" charset="0"/>
                <a:cs typeface="Calibri" pitchFamily="34" charset="0"/>
              </a:rPr>
              <a:t>Cancer, Tuberculose, Embolie pulmonaire, DDB, Bronchite aigue….</a:t>
            </a:r>
          </a:p>
          <a:p>
            <a:r>
              <a:rPr lang="fr-FR" sz="2000" b="1" dirty="0" smtClean="0">
                <a:latin typeface="Calibri" pitchFamily="34" charset="0"/>
                <a:cs typeface="Calibri" pitchFamily="34" charset="0"/>
              </a:rPr>
              <a:t>DYSPNEE</a:t>
            </a:r>
            <a:r>
              <a:rPr lang="fr-FR" sz="2000" dirty="0" smtClean="0">
                <a:latin typeface="Calibri" pitchFamily="34" charset="0"/>
                <a:cs typeface="Calibri" pitchFamily="34" charset="0"/>
              </a:rPr>
              <a:t>: Gène respiratoire</a:t>
            </a:r>
          </a:p>
          <a:p>
            <a:pPr>
              <a:buFont typeface="Wingdings" pitchFamily="2" charset="2"/>
              <a:buChar char="Ø"/>
            </a:pPr>
            <a:r>
              <a:rPr lang="fr-FR" sz="2000" dirty="0" smtClean="0">
                <a:latin typeface="Calibri" pitchFamily="34" charset="0"/>
                <a:cs typeface="Calibri" pitchFamily="34" charset="0"/>
              </a:rPr>
              <a:t>Fréq resp. normale (16 à 20/mn), Bradypnée (Diminution FR), Polypnée (Augmentation FR)</a:t>
            </a:r>
          </a:p>
          <a:p>
            <a:pPr>
              <a:buFont typeface="Wingdings" pitchFamily="2" charset="2"/>
              <a:buChar char="Ø"/>
            </a:pPr>
            <a:r>
              <a:rPr lang="fr-FR" sz="2000" dirty="0" smtClean="0">
                <a:latin typeface="Calibri" pitchFamily="34" charset="0"/>
                <a:cs typeface="Calibri" pitchFamily="34" charset="0"/>
              </a:rPr>
              <a:t>Orthopnée</a:t>
            </a:r>
          </a:p>
          <a:p>
            <a:pPr>
              <a:buFont typeface="Wingdings" pitchFamily="2" charset="2"/>
              <a:buChar char="Ø"/>
            </a:pPr>
            <a:r>
              <a:rPr lang="fr-FR" sz="2000" dirty="0" smtClean="0">
                <a:latin typeface="Calibri" pitchFamily="34" charset="0"/>
                <a:cs typeface="Calibri" pitchFamily="34" charset="0"/>
              </a:rPr>
              <a:t>Dyspnée d’effort : quantification, évolution; stade</a:t>
            </a:r>
          </a:p>
          <a:p>
            <a:r>
              <a:rPr lang="fr-FR" sz="2000" b="1" dirty="0" smtClean="0">
                <a:latin typeface="Calibri" pitchFamily="34" charset="0"/>
                <a:cs typeface="Calibri" pitchFamily="34" charset="0"/>
              </a:rPr>
              <a:t>DOULEURS THORACIQUES:</a:t>
            </a:r>
          </a:p>
          <a:p>
            <a:pPr>
              <a:buFont typeface="Wingdings" pitchFamily="2" charset="2"/>
              <a:buChar char="Ø"/>
            </a:pPr>
            <a:r>
              <a:rPr lang="fr-FR" sz="2000" dirty="0" smtClean="0">
                <a:latin typeface="Calibri" pitchFamily="34" charset="0"/>
                <a:cs typeface="Calibri" pitchFamily="34" charset="0"/>
              </a:rPr>
              <a:t>Siège, type, irradiations, facteurs déclenchants…</a:t>
            </a:r>
          </a:p>
          <a:p>
            <a:pPr>
              <a:buFont typeface="Wingdings" pitchFamily="2" charset="2"/>
              <a:buChar char="Ø"/>
            </a:pPr>
            <a:r>
              <a:rPr lang="fr-FR" sz="2000" dirty="0" smtClean="0">
                <a:latin typeface="Calibri" pitchFamily="34" charset="0"/>
                <a:cs typeface="Calibri" pitchFamily="34" charset="0"/>
              </a:rPr>
              <a:t>Pulmonaire (plèvre, pneumopathies, cancers…) , cardiaque+++, Embolie pulmonaire… </a:t>
            </a:r>
            <a:endParaRPr lang="fr-FR" sz="2000"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INTERROGATOIRE (points forts)</a:t>
            </a:r>
            <a:endParaRPr lang="fr-FR" b="1" dirty="0"/>
          </a:p>
        </p:txBody>
      </p:sp>
      <p:sp>
        <p:nvSpPr>
          <p:cNvPr id="3" name="Espace réservé du contenu 2"/>
          <p:cNvSpPr>
            <a:spLocks noGrp="1"/>
          </p:cNvSpPr>
          <p:nvPr>
            <p:ph sz="quarter" idx="1"/>
          </p:nvPr>
        </p:nvSpPr>
        <p:spPr>
          <a:xfrm>
            <a:off x="285720" y="1600200"/>
            <a:ext cx="8480328" cy="5257800"/>
          </a:xfrm>
        </p:spPr>
        <p:txBody>
          <a:bodyPr>
            <a:normAutofit fontScale="92500" lnSpcReduction="10000"/>
          </a:bodyPr>
          <a:lstStyle/>
          <a:p>
            <a:r>
              <a:rPr lang="fr-FR" sz="2800" dirty="0" smtClean="0">
                <a:latin typeface="Calibri" pitchFamily="34" charset="0"/>
                <a:cs typeface="Calibri" pitchFamily="34" charset="0"/>
              </a:rPr>
              <a:t>L’interrogatoire est le premier temps de l’examen clinique.</a:t>
            </a:r>
          </a:p>
          <a:p>
            <a:r>
              <a:rPr lang="fr-FR" sz="2800" dirty="0" smtClean="0">
                <a:latin typeface="Calibri" pitchFamily="34" charset="0"/>
                <a:cs typeface="Calibri" pitchFamily="34" charset="0"/>
              </a:rPr>
              <a:t>L’interrogatoire permet de connaître d’abord le motif de la consultation, l’âge, la profession et les facteurs de risque respiratoire du patient.</a:t>
            </a:r>
          </a:p>
          <a:p>
            <a:r>
              <a:rPr lang="fr-FR" sz="2800" dirty="0" smtClean="0">
                <a:latin typeface="Calibri" pitchFamily="34" charset="0"/>
                <a:cs typeface="Calibri" pitchFamily="34" charset="0"/>
              </a:rPr>
              <a:t>L’histoire de la maladie doit être détaillée, éclaircie si nécessaire.</a:t>
            </a:r>
          </a:p>
          <a:p>
            <a:r>
              <a:rPr lang="fr-FR" sz="2800" dirty="0" smtClean="0">
                <a:latin typeface="Calibri" pitchFamily="34" charset="0"/>
                <a:cs typeface="Calibri" pitchFamily="34" charset="0"/>
              </a:rPr>
              <a:t>Ensuite, il est nécessaire de connaître les conditions de vie, les traitements en cours, le statut vaccinal, les antécédents personnels et familiaux, notamment d’allergie et de maladie veineuse thromboembolique.</a:t>
            </a:r>
          </a:p>
          <a:p>
            <a:r>
              <a:rPr lang="fr-FR" sz="2800" dirty="0" smtClean="0">
                <a:latin typeface="Calibri" pitchFamily="34" charset="0"/>
                <a:cs typeface="Calibri" pitchFamily="34" charset="0"/>
              </a:rPr>
              <a:t>Au terme d’un interrogatoire bien mené, vous avez une hypothèse diagnostique bien étayée dans la majorité des cas.</a:t>
            </a:r>
            <a:endParaRPr lang="fr-FR" sz="2800"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2648" y="142852"/>
            <a:ext cx="8153400" cy="1076348"/>
          </a:xfrm>
        </p:spPr>
        <p:txBody>
          <a:bodyPr>
            <a:normAutofit fontScale="90000"/>
          </a:bodyPr>
          <a:lstStyle/>
          <a:p>
            <a:r>
              <a:rPr lang="fr-FR" b="1" dirty="0" smtClean="0"/>
              <a:t> EXAMEN CLINIQUE</a:t>
            </a:r>
            <a:r>
              <a:rPr lang="fr-FR" dirty="0" smtClean="0"/>
              <a:t> =Examen physique</a:t>
            </a:r>
            <a:endParaRPr lang="fr-FR" b="1" dirty="0"/>
          </a:p>
        </p:txBody>
      </p:sp>
      <p:sp>
        <p:nvSpPr>
          <p:cNvPr id="3" name="Espace réservé du contenu 2"/>
          <p:cNvSpPr>
            <a:spLocks noGrp="1"/>
          </p:cNvSpPr>
          <p:nvPr>
            <p:ph sz="quarter" idx="1"/>
          </p:nvPr>
        </p:nvSpPr>
        <p:spPr>
          <a:xfrm>
            <a:off x="357158" y="1643050"/>
            <a:ext cx="8408890" cy="4786346"/>
          </a:xfrm>
        </p:spPr>
        <p:txBody>
          <a:bodyPr>
            <a:noAutofit/>
          </a:bodyPr>
          <a:lstStyle/>
          <a:p>
            <a:pPr>
              <a:buNone/>
            </a:pPr>
            <a:endParaRPr lang="fr-FR" sz="2400" b="1" u="sng" dirty="0" smtClean="0">
              <a:latin typeface="Calibri" pitchFamily="34" charset="0"/>
              <a:cs typeface="Calibri" pitchFamily="34" charset="0"/>
            </a:endParaRPr>
          </a:p>
          <a:p>
            <a:r>
              <a:rPr lang="fr-FR" sz="2400" b="1" dirty="0" smtClean="0">
                <a:latin typeface="Calibri" pitchFamily="34" charset="0"/>
                <a:cs typeface="Calibri" pitchFamily="34" charset="0"/>
              </a:rPr>
              <a:t>Signes généraux</a:t>
            </a:r>
            <a:endParaRPr lang="fr-FR" sz="2400" b="1" u="sng" dirty="0" smtClean="0">
              <a:latin typeface="Calibri" pitchFamily="34" charset="0"/>
              <a:cs typeface="Calibri" pitchFamily="34" charset="0"/>
            </a:endParaRPr>
          </a:p>
          <a:p>
            <a:r>
              <a:rPr lang="fr-FR" sz="2000" b="1" u="sng" dirty="0" smtClean="0">
                <a:latin typeface="Calibri" pitchFamily="34" charset="0"/>
                <a:cs typeface="Calibri" pitchFamily="34" charset="0"/>
              </a:rPr>
              <a:t>Mesurer</a:t>
            </a:r>
            <a:r>
              <a:rPr lang="fr-FR" sz="2000" dirty="0" smtClean="0">
                <a:latin typeface="Calibri" pitchFamily="34" charset="0"/>
                <a:cs typeface="Calibri" pitchFamily="34" charset="0"/>
              </a:rPr>
              <a:t>: Taille, Poids, Température., Fréquence respiratoire.</a:t>
            </a:r>
          </a:p>
          <a:p>
            <a:pPr>
              <a:buNone/>
            </a:pPr>
            <a:endParaRPr lang="fr-FR" sz="2000" dirty="0" smtClean="0">
              <a:latin typeface="Calibri" pitchFamily="34" charset="0"/>
              <a:cs typeface="Calibri" pitchFamily="34" charset="0"/>
            </a:endParaRPr>
          </a:p>
          <a:p>
            <a:pPr>
              <a:buFont typeface="Wingdings" pitchFamily="2" charset="2"/>
              <a:buChar char="Ø"/>
            </a:pPr>
            <a:r>
              <a:rPr lang="fr-FR" sz="2000" b="1" dirty="0" smtClean="0">
                <a:solidFill>
                  <a:srgbClr val="FF0000"/>
                </a:solidFill>
                <a:latin typeface="Calibri" pitchFamily="34" charset="0"/>
                <a:cs typeface="Calibri" pitchFamily="34" charset="0"/>
              </a:rPr>
              <a:t>Avant de commencer l'examen physique appareil par appareil </a:t>
            </a:r>
          </a:p>
          <a:p>
            <a:pPr>
              <a:buFont typeface="Wingdings" pitchFamily="2" charset="2"/>
              <a:buChar char="Ø"/>
            </a:pPr>
            <a:r>
              <a:rPr lang="fr-FR" sz="2000" b="1" dirty="0" smtClean="0">
                <a:solidFill>
                  <a:srgbClr val="FF0000"/>
                </a:solidFill>
                <a:latin typeface="Calibri" pitchFamily="34" charset="0"/>
                <a:cs typeface="Calibri" pitchFamily="34" charset="0"/>
              </a:rPr>
              <a:t>(avant de toucher le patient), il est indispensable de prendre le temps d'observer le patient</a:t>
            </a:r>
            <a:endParaRPr lang="fr-FR" sz="2000" dirty="0" smtClean="0">
              <a:latin typeface="Calibri" pitchFamily="34" charset="0"/>
              <a:cs typeface="Calibri" pitchFamily="34" charset="0"/>
            </a:endParaRPr>
          </a:p>
          <a:p>
            <a:pPr lvl="3">
              <a:buNone/>
            </a:pPr>
            <a:endParaRPr lang="fr-FR" dirty="0" smtClean="0">
              <a:latin typeface="Calibri" pitchFamily="34" charset="0"/>
              <a:cs typeface="Calibri" pitchFamily="34" charset="0"/>
            </a:endParaRPr>
          </a:p>
          <a:p>
            <a:pPr lvl="3">
              <a:buNone/>
            </a:pPr>
            <a:endParaRPr lang="fr-FR" dirty="0" smtClean="0">
              <a:latin typeface="Calibri" pitchFamily="34" charset="0"/>
              <a:cs typeface="Calibri" pitchFamily="34" charset="0"/>
            </a:endParaRPr>
          </a:p>
        </p:txBody>
      </p:sp>
      <p:sp>
        <p:nvSpPr>
          <p:cNvPr id="4" name="Espace réservé du contenu 2"/>
          <p:cNvSpPr txBox="1">
            <a:spLocks/>
          </p:cNvSpPr>
          <p:nvPr/>
        </p:nvSpPr>
        <p:spPr>
          <a:xfrm>
            <a:off x="612648" y="4786322"/>
            <a:ext cx="8153400" cy="1214446"/>
          </a:xfrm>
          <a:prstGeom prst="rect">
            <a:avLst/>
          </a:prstGeom>
          <a:ln>
            <a:solidFill>
              <a:srgbClr val="C00000"/>
            </a:solidFill>
          </a:ln>
        </p:spPr>
        <p:txBody>
          <a:bodyPr vert="horz">
            <a:normAutofit fontScale="92500" lnSpcReduction="100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None/>
              <a:tabLst/>
              <a:defRPr/>
            </a:pPr>
            <a:r>
              <a:rPr kumimoji="0" lang="fr-FR" sz="2900" b="0" i="0" u="none" strike="noStrike" kern="1200" cap="none" spc="0" normalizeH="0" baseline="0" noProof="0" smtClean="0">
                <a:ln>
                  <a:noFill/>
                </a:ln>
                <a:solidFill>
                  <a:schemeClr val="tx1"/>
                </a:solidFill>
                <a:effectLst/>
                <a:uLnTx/>
                <a:uFillTx/>
                <a:latin typeface="+mn-lt"/>
                <a:ea typeface="+mn-ea"/>
                <a:cs typeface="+mn-cs"/>
              </a:rPr>
              <a:t>"Ne touchez pas le malade, notez d'abord ce que vous voyez ; développez votre sens de l'observation."Sir William Osler (1849-1919).</a:t>
            </a: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fr-FR" sz="29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checkerboard(across)">
                                      <p:cBhvr>
                                        <p:cTn id="7" dur="500"/>
                                        <p:tgtEl>
                                          <p:spTgt spid="3">
                                            <p:txEl>
                                              <p:pRg st="4" end="4"/>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checkerboard(across)">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 calcmode="lin" valueType="num">
                                      <p:cBhvr additive="base">
                                        <p:cTn id="15" dur="500" fill="hold"/>
                                        <p:tgtEl>
                                          <p:spTgt spid="4">
                                            <p:bg/>
                                          </p:spTgt>
                                        </p:tgtEl>
                                        <p:attrNameLst>
                                          <p:attrName>ppt_x</p:attrName>
                                        </p:attrNameLst>
                                      </p:cBhvr>
                                      <p:tavLst>
                                        <p:tav tm="0">
                                          <p:val>
                                            <p:strVal val="#ppt_x"/>
                                          </p:val>
                                        </p:tav>
                                        <p:tav tm="100000">
                                          <p:val>
                                            <p:strVal val="#ppt_x"/>
                                          </p:val>
                                        </p:tav>
                                      </p:tavLst>
                                    </p:anim>
                                    <p:anim calcmode="lin" valueType="num">
                                      <p:cBhvr additive="base">
                                        <p:cTn id="16"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 calcmode="lin" valueType="num">
                                      <p:cBhvr additive="base">
                                        <p:cTn id="2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EXAMEN CLINIQUE:</a:t>
            </a:r>
            <a:r>
              <a:rPr lang="fr-FR" sz="4000" dirty="0" smtClean="0"/>
              <a:t/>
            </a:r>
            <a:br>
              <a:rPr lang="fr-FR" sz="4000" dirty="0" smtClean="0"/>
            </a:br>
            <a:r>
              <a:rPr lang="fr-FR" dirty="0" smtClean="0"/>
              <a:t>Inspection</a:t>
            </a:r>
            <a:endParaRPr lang="fr-FR" dirty="0"/>
          </a:p>
        </p:txBody>
      </p:sp>
      <p:sp>
        <p:nvSpPr>
          <p:cNvPr id="3" name="Espace réservé du contenu 2"/>
          <p:cNvSpPr>
            <a:spLocks noGrp="1"/>
          </p:cNvSpPr>
          <p:nvPr>
            <p:ph sz="quarter" idx="1"/>
          </p:nvPr>
        </p:nvSpPr>
        <p:spPr>
          <a:xfrm>
            <a:off x="285720" y="1600200"/>
            <a:ext cx="8480328" cy="4972072"/>
          </a:xfrm>
        </p:spPr>
        <p:txBody>
          <a:bodyPr>
            <a:noAutofit/>
          </a:bodyPr>
          <a:lstStyle/>
          <a:p>
            <a:pPr lvl="3">
              <a:buNone/>
            </a:pPr>
            <a:r>
              <a:rPr lang="fr-FR" sz="2400" dirty="0" smtClean="0">
                <a:latin typeface="Calibri" pitchFamily="34" charset="0"/>
                <a:cs typeface="Calibri" pitchFamily="34" charset="0"/>
              </a:rPr>
              <a:t>- Pâleur.</a:t>
            </a:r>
          </a:p>
          <a:p>
            <a:pPr lvl="3">
              <a:buNone/>
            </a:pPr>
            <a:r>
              <a:rPr lang="fr-FR" sz="2400" dirty="0" smtClean="0">
                <a:latin typeface="Calibri" pitchFamily="34" charset="0"/>
                <a:cs typeface="Calibri" pitchFamily="34" charset="0"/>
              </a:rPr>
              <a:t>- Ictère.</a:t>
            </a:r>
          </a:p>
          <a:p>
            <a:pPr lvl="3">
              <a:buNone/>
            </a:pPr>
            <a:r>
              <a:rPr lang="fr-FR" sz="2400" dirty="0" smtClean="0">
                <a:latin typeface="Calibri" pitchFamily="34" charset="0"/>
                <a:cs typeface="Calibri" pitchFamily="34" charset="0"/>
              </a:rPr>
              <a:t>- Cyanose.</a:t>
            </a:r>
          </a:p>
          <a:p>
            <a:pPr lvl="3">
              <a:buNone/>
            </a:pPr>
            <a:r>
              <a:rPr lang="fr-FR" sz="2400" dirty="0" smtClean="0">
                <a:latin typeface="Calibri" pitchFamily="34" charset="0"/>
                <a:cs typeface="Calibri" pitchFamily="34" charset="0"/>
              </a:rPr>
              <a:t>- Marbrures.</a:t>
            </a:r>
          </a:p>
          <a:p>
            <a:pPr lvl="3">
              <a:buNone/>
            </a:pPr>
            <a:r>
              <a:rPr lang="fr-FR" sz="2400" dirty="0" smtClean="0">
                <a:latin typeface="Calibri" pitchFamily="34" charset="0"/>
                <a:cs typeface="Calibri" pitchFamily="34" charset="0"/>
              </a:rPr>
              <a:t>- Sueurs.</a:t>
            </a:r>
          </a:p>
          <a:p>
            <a:pPr lvl="3">
              <a:buNone/>
            </a:pPr>
            <a:r>
              <a:rPr lang="fr-FR" sz="2400" dirty="0" smtClean="0">
                <a:latin typeface="Calibri" pitchFamily="34" charset="0"/>
                <a:cs typeface="Calibri" pitchFamily="34" charset="0"/>
              </a:rPr>
              <a:t>- Etat de vigilance.</a:t>
            </a:r>
          </a:p>
          <a:p>
            <a:pPr lvl="3">
              <a:buNone/>
            </a:pPr>
            <a:r>
              <a:rPr lang="fr-FR" sz="2400" dirty="0" smtClean="0">
                <a:latin typeface="Calibri" pitchFamily="34" charset="0"/>
                <a:cs typeface="Calibri" pitchFamily="34" charset="0"/>
              </a:rPr>
              <a:t>- Attitude : prostration, tristesse, agitation...</a:t>
            </a:r>
          </a:p>
          <a:p>
            <a:pPr lvl="3">
              <a:buNone/>
            </a:pPr>
            <a:r>
              <a:rPr lang="fr-FR" sz="2400" dirty="0" smtClean="0">
                <a:latin typeface="Calibri" pitchFamily="34" charset="0"/>
                <a:cs typeface="Calibri" pitchFamily="34" charset="0"/>
              </a:rPr>
              <a:t>- Etat d'hygiène.</a:t>
            </a:r>
          </a:p>
          <a:p>
            <a:pPr lvl="3">
              <a:buNone/>
            </a:pPr>
            <a:r>
              <a:rPr lang="fr-FR" sz="2400" dirty="0" smtClean="0">
                <a:latin typeface="Calibri" pitchFamily="34" charset="0"/>
                <a:cs typeface="Calibri" pitchFamily="34" charset="0"/>
              </a:rPr>
              <a:t>- Degré d'autonomie : patient capable de se lever et de marcher seul ?</a:t>
            </a:r>
          </a:p>
          <a:p>
            <a:pPr lvl="3">
              <a:buNone/>
            </a:pPr>
            <a:r>
              <a:rPr lang="fr-FR" sz="2400" dirty="0" smtClean="0">
                <a:latin typeface="Calibri" pitchFamily="34" charset="0"/>
                <a:cs typeface="Calibri" pitchFamily="34" charset="0"/>
              </a:rPr>
              <a:t>- Dysphonie, bruits respiratoires.</a:t>
            </a:r>
          </a:p>
          <a:p>
            <a:pPr lvl="3">
              <a:buNone/>
            </a:pPr>
            <a:r>
              <a:rPr lang="fr-FR" sz="2400" dirty="0" smtClean="0">
                <a:latin typeface="Calibri" pitchFamily="34" charset="0"/>
                <a:cs typeface="Calibri" pitchFamily="34" charset="0"/>
              </a:rPr>
              <a:t>- Odeurs</a:t>
            </a:r>
            <a:endParaRPr lang="fr-FR"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3568" y="188640"/>
            <a:ext cx="8153400" cy="990600"/>
          </a:xfrm>
        </p:spPr>
        <p:txBody>
          <a:bodyPr>
            <a:normAutofit fontScale="90000"/>
          </a:bodyPr>
          <a:lstStyle/>
          <a:p>
            <a:r>
              <a:rPr lang="fr-FR" dirty="0" smtClean="0"/>
              <a:t>EXAMEN CLINIQUE:</a:t>
            </a:r>
            <a:r>
              <a:rPr lang="fr-FR" sz="4000" dirty="0" smtClean="0"/>
              <a:t/>
            </a:r>
            <a:br>
              <a:rPr lang="fr-FR" sz="4000" dirty="0" smtClean="0"/>
            </a:br>
            <a:r>
              <a:rPr lang="fr-FR" dirty="0" smtClean="0"/>
              <a:t>Inspection</a:t>
            </a:r>
            <a:endParaRPr lang="fr-FR" dirty="0"/>
          </a:p>
        </p:txBody>
      </p:sp>
      <p:sp>
        <p:nvSpPr>
          <p:cNvPr id="3" name="Espace réservé du contenu 2"/>
          <p:cNvSpPr>
            <a:spLocks noGrp="1"/>
          </p:cNvSpPr>
          <p:nvPr>
            <p:ph sz="quarter" idx="1"/>
          </p:nvPr>
        </p:nvSpPr>
        <p:spPr>
          <a:xfrm>
            <a:off x="428596" y="1589566"/>
            <a:ext cx="4067204" cy="5268433"/>
          </a:xfrm>
        </p:spPr>
        <p:txBody>
          <a:bodyPr>
            <a:noAutofit/>
          </a:bodyPr>
          <a:lstStyle/>
          <a:p>
            <a:pPr>
              <a:buClr>
                <a:srgbClr val="C00000"/>
              </a:buClr>
              <a:buSzPct val="75000"/>
            </a:pPr>
            <a:r>
              <a:rPr lang="fr-FR" sz="2200" dirty="0" smtClean="0">
                <a:latin typeface="Calibri" pitchFamily="34" charset="0"/>
              </a:rPr>
              <a:t>MORPHOLOGIE</a:t>
            </a:r>
          </a:p>
          <a:p>
            <a:pPr>
              <a:buClr>
                <a:srgbClr val="C00000"/>
              </a:buClr>
              <a:buSzPct val="75000"/>
            </a:pPr>
            <a:r>
              <a:rPr lang="fr-FR" sz="2200" dirty="0" smtClean="0">
                <a:latin typeface="Calibri" pitchFamily="34" charset="0"/>
              </a:rPr>
              <a:t>CYANOSE</a:t>
            </a:r>
          </a:p>
          <a:p>
            <a:pPr>
              <a:buClr>
                <a:srgbClr val="C00000"/>
              </a:buClr>
              <a:buSzPct val="75000"/>
            </a:pPr>
            <a:r>
              <a:rPr lang="fr-FR" sz="2200" dirty="0" smtClean="0">
                <a:latin typeface="Calibri" pitchFamily="34" charset="0"/>
              </a:rPr>
              <a:t>HIPPOCRATISME DIGITAL</a:t>
            </a:r>
          </a:p>
          <a:p>
            <a:pPr>
              <a:buClr>
                <a:srgbClr val="C00000"/>
              </a:buClr>
              <a:buSzPct val="75000"/>
            </a:pPr>
            <a:r>
              <a:rPr lang="fr-FR" sz="2200" dirty="0" smtClean="0">
                <a:latin typeface="Calibri" pitchFamily="34" charset="0"/>
              </a:rPr>
              <a:t>FREQUENCE RESPIRATOIRE</a:t>
            </a:r>
          </a:p>
          <a:p>
            <a:pPr>
              <a:buClr>
                <a:srgbClr val="C00000"/>
              </a:buClr>
              <a:buSzPct val="75000"/>
            </a:pPr>
            <a:r>
              <a:rPr lang="fr-FR" sz="2200" dirty="0" smtClean="0">
                <a:latin typeface="Calibri" pitchFamily="34" charset="0"/>
              </a:rPr>
              <a:t>AMPLIATION THORACIQUE</a:t>
            </a:r>
          </a:p>
          <a:p>
            <a:pPr>
              <a:buClr>
                <a:srgbClr val="C00000"/>
              </a:buClr>
              <a:buSzPct val="75000"/>
            </a:pPr>
            <a:r>
              <a:rPr lang="fr-FR" sz="2200" dirty="0" smtClean="0">
                <a:latin typeface="Calibri" pitchFamily="34" charset="0"/>
              </a:rPr>
              <a:t>UTILISATION DES MUSCLES RESPIRATOIRES ACCESSOIRES</a:t>
            </a:r>
          </a:p>
          <a:p>
            <a:pPr>
              <a:buClr>
                <a:srgbClr val="C00000"/>
              </a:buClr>
              <a:buSzPct val="75000"/>
            </a:pPr>
            <a:r>
              <a:rPr lang="fr-FR" sz="2200" dirty="0" smtClean="0">
                <a:latin typeface="Calibri" pitchFamily="34" charset="0"/>
              </a:rPr>
              <a:t>DEROULEMENT DU CYCLE RESPIRATOIRE</a:t>
            </a:r>
          </a:p>
          <a:p>
            <a:pPr>
              <a:buClr>
                <a:srgbClr val="C00000"/>
              </a:buClr>
              <a:buSzPct val="75000"/>
            </a:pPr>
            <a:r>
              <a:rPr lang="fr-FR" sz="2200" dirty="0" smtClean="0">
                <a:latin typeface="Calibri" pitchFamily="34" charset="0"/>
              </a:rPr>
              <a:t>Cicatrice</a:t>
            </a:r>
          </a:p>
          <a:p>
            <a:pPr>
              <a:buClr>
                <a:srgbClr val="C00000"/>
              </a:buClr>
              <a:buSzPct val="75000"/>
            </a:pPr>
            <a:r>
              <a:rPr lang="fr-FR" sz="2200" dirty="0" smtClean="0">
                <a:latin typeface="Calibri" pitchFamily="34" charset="0"/>
              </a:rPr>
              <a:t>Circulation veineuse collatérale et TVJ</a:t>
            </a:r>
          </a:p>
        </p:txBody>
      </p:sp>
      <p:pic>
        <p:nvPicPr>
          <p:cNvPr id="6" name="Espace réservé du contenu 5" descr="pink puffer.bmp"/>
          <p:cNvPicPr>
            <a:picLocks noGrp="1" noChangeAspect="1"/>
          </p:cNvPicPr>
          <p:nvPr>
            <p:ph sz="quarter" idx="2"/>
          </p:nvPr>
        </p:nvPicPr>
        <p:blipFill>
          <a:blip r:embed="rId2" cstate="print"/>
          <a:stretch>
            <a:fillRect/>
          </a:stretch>
        </p:blipFill>
        <p:spPr>
          <a:xfrm>
            <a:off x="5796136" y="2420888"/>
            <a:ext cx="819895" cy="1152000"/>
          </a:xfrm>
        </p:spPr>
      </p:pic>
      <p:pic>
        <p:nvPicPr>
          <p:cNvPr id="1026" name="Picture 2" descr="http://4.bp.blogspot.com/_7zQULPNQ7FQ/Sfh8F5-qOQI/AAAAAAAAAB4/f5niTU0epGU/s320/bluebloater.jpg.jpeg"/>
          <p:cNvPicPr>
            <a:picLocks noChangeAspect="1" noChangeArrowheads="1"/>
          </p:cNvPicPr>
          <p:nvPr/>
        </p:nvPicPr>
        <p:blipFill>
          <a:blip r:embed="rId3" cstate="print"/>
          <a:srcRect/>
          <a:stretch>
            <a:fillRect/>
          </a:stretch>
        </p:blipFill>
        <p:spPr bwMode="auto">
          <a:xfrm>
            <a:off x="7236296" y="1628800"/>
            <a:ext cx="1685925" cy="2381250"/>
          </a:xfrm>
          <a:prstGeom prst="rect">
            <a:avLst/>
          </a:prstGeom>
          <a:noFill/>
        </p:spPr>
      </p:pic>
      <p:sp>
        <p:nvSpPr>
          <p:cNvPr id="1028" name="AutoShape 4" descr="data:image/jpg;base64,/9j/4AAQSkZJRgABAQAAAQABAAD/2wCEAAkGBhESERIUEhEWFBQWGBgaGBQXFx0XGRgXFxwYHBgfHxUXHSggIh0jHBkYIzMgJScpLC0tFh89NTAqNjIsLC0BCQoKDgwNGg8PGjUkHyUqLDQ1NSwsLCwsLyo0LCwsKik0LiwuLSwsLCosNCwuNCksNSwsLC8tNC0xLCw2LCwsKf/AABEIAGgASgMBIgACEQEDEQH/xAAbAAACAgMBAAAAAAAAAAAAAAAFBgAEAQMHAv/EADkQAAIBAgQEAwUFBwUAAAAAAAECEQADBBIhMQUiQVEGYYETcZGhsQcyUmLBFCNCcoLR8BUzQ5Ky/8QAGQEAAgMBAAAAAAAAAAAAAAAAAgQAAwUB/8QAIREAAgMAAwACAwEAAAAAAAAAAQIAAxESITEEIkFRYRP/2gAMAwEAAhEDEQA/AO2VCawxqtdxQoS2SSyWArM0PB1jvXpmL2rik6lGGnmCNqEPskQ+IcZxPEb3s8LeuWbUsJUwCF6ypDNM7SAJ61abg/EcMgdMTqoGkM2f+YMY20j4RWjwNgruHtnkzPmIKiDlyADVp0XzEk9qYMXxZrisqIQIAZt8jHaVEcu/N8qSLE6dj4rAwZ11sNcG4kMRYt3QIzjUbwwJDCfJgR6Vdpf8CI4wSB4nPd0HQF2I+Mz60wU+p1QYkwwkSVKlSigzXfHKY3obb036fWiGMYhTG9CLxJBy6n4a1U/s5PLYyBMx3JMAep6Vrt8TK8wBZejBYWPJmIn0rfhrSOSWAKIIHaRuf0+NUgvtWuMo5VcQTqA0Rt1A0ntIpd3I8jdVAYa0rYLHEXmhYBhsu4P3Ruu++3lVbiONW2lxbbMS3sweQqZMgwCJJOu2nJ0oli8PKNcWQUytPmp112YEfSlnHYq9duq1wLbt2ubRcsn+WZzEbDsRS5PU0V77EeuCcQw2RLdq4JURkMq8jfkbWaK0icOwvtLQlQs82cEyG1IE9IJ38hTVwPiftrctpcQ5XH5h19xEH1pym3l9TM75FPH7A7CNSpUpmKxV8QeIb9qD7NFt5ioOruYmeWAo0B70GwXikXYS3aZtQIZwmp1/gBOgk6mrn2h2Jwl4g627qNv0eOn9dC/s74fAN1ttQD56Sf09DWcxbkdMigtYFHkZMYWs2kUbswBPmew6n+1WOEOAmVdgTod5kyD5zQTEcU/aMQ2QzbtSoj8e7H0H1PaitmywAZdZADDYwNiOhYDTzgUAP26mtx+mGecZfWYUqpO65Yn3xvQTiRBnUkltyNP8miXEL+qqCSTJYwFyqNyS3oI86VuPeKEWRaLM40DNBC+4Dc0Ddy0Yi6YwYfieV7WHRc7Zc1wdlHQfmIk+nnVyxjP2fEltBau5cx6dg3oTr5E9qVfDVwI1q8xlmds7T0YR8gaduI8PDCRBUzmXtIIJHcaz5b60S6Do9ERrvW3Q3hjADWaC8Bxv/C+YMo5Sdcyrpv8AiGk99+9Gq0q3DroiroUOGKvjKzOZTOS+mTT8anT15gf6TQjjqXrODNuxaZYCorqQYWZZso1mB86bPEOA9tbyiA6kMhOwYbT5HUetLeE4riIuEqP3IPtEbRuUEwNCCdOsUjcuWfwy6orxI3D+4sfZ4+jCYPtNTvBKggyesg/EU+IyhP3nLl0gifQAjXy60vXP9Px6FrbC1cI1I0M+cb+tD8TwrGWQnsr5uoNMqsxkDy1E+g29KDrdjCclQKO8hTiOBa6rNmCzyqpyo0GNcpI1NJ/iDhC2mgMpK6lVYMdTrmI2gev6bsbinUlQOZjquqRG4zExJ8j1oSL6i4faEDmkgDTToFXSNtzUVR7Atsd1KES3heOraUhgTvHSG6fOjnh/xU10ZELpcjnXRrbLsSDupg/OkXGlpPUdD5f3pv8AAvCV9mXd8rXc4WNWy2gpblPSTqR+Coy4N/MzvjKRaFPkd+A4gHExE5RGmwLTB+AP/am6lTwvw5UvvIzMAWDkQ0McpB9xUnc/e+LXTXxQQka+Q22GVcWNR8P7Um4fLfxWPQFlFxAJUwcwXKSIOuqnenTGmAD5/WkPhPGMO3EbgtSGDuCejqPvHbcMSPdG/Qb5R1+YgWblnUW1I2++QW7ToNDpsNu9FcDcvqQ1m4ykbRLAabGdNR0pd4zYy4i/GkXLkR2DmmLw1iTdTKQeUxrGUsZO3WAJ+vnWy53JTdo4xvwXHMNfOS8ipc6g/dbzVhqB1I069jQfxFwJFm4nLABdQnMP4VMDaSCp0iVnqK24zBoLckd5O5OhIpVx/iDEZ3EqVytbOn3lnUz3kA+lVrpMZsvUJ95vwfDs++251EAfmfb0E0d4NZdrqOo5EtlE/hARuVmFv3Fz3YkawNFThvG8jAOOXqDqI1Me4mOlOFriBX2o3PsiZ65oHbseX0NExwSqtw3YMcfDWJLM8qVJLkiZgsxP/nL6k0xVyXiHH8Rh8RZey26kNbbVGAymSOh5iMwg6U5Yfx9aZFJs3ASASBBAJHQzqPOmaXAXDK3sBc7GW9aDKQa4/iVHD+JXnYEqhZlA3YXIZdeg1ia7HSX414O1y+jKszbjaZykyD6EeemlFeBx2Ayk+ezkPFOJG5cd4jOzNA2liT+tMn2dLPtSdYOnvIANYwfgG/cYZbRytszkKvUiDMkR2FMHD/DbYFsrFSX5uWY00jUD/DSzkcepV8dGD6RJ4ifJYb8pE/T9aQ0wN5wJAUHWCe5n9a6XewyXWCuMyMyZh3GYTt5U44Tgdi1AS2qx+FQPnv8AOpUpbyX3V88nGcN4HvXNg/ohg/1NC/Or74J7YuB5zgAN75k7Ejr3rsgtDsK5/wCPLAS85A/3EQ7bsJX48o+Jrt1ZVdJnaUCHqarvCrV02WuXCk28sBZnQE67DQCnHC+H7QRABICgA8pkRprloXwbCSiaTCx6gAH5GmmwIVQdwB9KL443dhOo3Z6rEDqKlSnYMF8KwVxSS86M4A6QWJWBsNI2rR4g4I9+5ZKmAshj2Gke+pUqr/IceM7vezKeFrQG7E6SSe28UZUGBOp71mpRLWqeSEkyVru2Fb7yg9NROlSpREbOT2qgaAR7qzUqV2Sf/9k=">
            <a:hlinkClick r:id="rId4"/>
          </p:cNvPr>
          <p:cNvSpPr>
            <a:spLocks noChangeAspect="1" noChangeArrowheads="1"/>
          </p:cNvSpPr>
          <p:nvPr/>
        </p:nvSpPr>
        <p:spPr bwMode="auto">
          <a:xfrm>
            <a:off x="467544" y="0"/>
            <a:ext cx="704850" cy="9906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pic>
        <p:nvPicPr>
          <p:cNvPr id="1030" name="Picture 6" descr="http://www.copd.be/Media/gen_images/pinkpuffer.jpg"/>
          <p:cNvPicPr>
            <a:picLocks noChangeAspect="1" noChangeArrowheads="1"/>
          </p:cNvPicPr>
          <p:nvPr/>
        </p:nvPicPr>
        <p:blipFill>
          <a:blip r:embed="rId5" cstate="print"/>
          <a:srcRect/>
          <a:stretch>
            <a:fillRect/>
          </a:stretch>
        </p:blipFill>
        <p:spPr bwMode="auto">
          <a:xfrm>
            <a:off x="5292080" y="1700808"/>
            <a:ext cx="1722853" cy="2412000"/>
          </a:xfrm>
          <a:prstGeom prst="rect">
            <a:avLst/>
          </a:prstGeom>
          <a:noFill/>
        </p:spPr>
      </p:pic>
      <p:pic>
        <p:nvPicPr>
          <p:cNvPr id="1032" name="Picture 8" descr="http://www.respir.com/images/HippocratismeDigital_2.GIF"/>
          <p:cNvPicPr>
            <a:picLocks noChangeAspect="1" noChangeArrowheads="1"/>
          </p:cNvPicPr>
          <p:nvPr/>
        </p:nvPicPr>
        <p:blipFill>
          <a:blip r:embed="rId6" cstate="print"/>
          <a:srcRect/>
          <a:stretch>
            <a:fillRect/>
          </a:stretch>
        </p:blipFill>
        <p:spPr bwMode="auto">
          <a:xfrm>
            <a:off x="5148064" y="4365104"/>
            <a:ext cx="3818857" cy="23760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4" name="Picture 4"/>
          <p:cNvPicPr>
            <a:picLocks noChangeAspect="1" noChangeArrowheads="1"/>
          </p:cNvPicPr>
          <p:nvPr/>
        </p:nvPicPr>
        <p:blipFill>
          <a:blip r:embed="rId3"/>
          <a:srcRect/>
          <a:stretch>
            <a:fillRect/>
          </a:stretch>
        </p:blipFill>
        <p:spPr bwMode="auto">
          <a:xfrm>
            <a:off x="2362200" y="990600"/>
            <a:ext cx="4038600" cy="472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Thorax en entonnoir</a:t>
            </a:r>
            <a:endParaRPr lang="fr-FR" dirty="0"/>
          </a:p>
        </p:txBody>
      </p:sp>
      <p:pic>
        <p:nvPicPr>
          <p:cNvPr id="4" name="Picture 4" descr="pectus excavatum1"/>
          <p:cNvPicPr>
            <a:picLocks noGrp="1" noChangeAspect="1" noChangeArrowheads="1"/>
          </p:cNvPicPr>
          <p:nvPr>
            <p:ph idx="1"/>
          </p:nvPr>
        </p:nvPicPr>
        <p:blipFill>
          <a:blip r:embed="rId2"/>
          <a:srcRect/>
          <a:stretch>
            <a:fillRect/>
          </a:stretch>
        </p:blipFill>
        <p:spPr bwMode="auto">
          <a:xfrm>
            <a:off x="2500298" y="1543987"/>
            <a:ext cx="3357586" cy="47117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Thorax en carène</a:t>
            </a:r>
            <a:endParaRPr lang="fr-FR" dirty="0"/>
          </a:p>
        </p:txBody>
      </p:sp>
      <p:pic>
        <p:nvPicPr>
          <p:cNvPr id="4" name="Picture 4" descr="pec car"/>
          <p:cNvPicPr>
            <a:picLocks noGrp="1" noChangeAspect="1" noChangeArrowheads="1"/>
          </p:cNvPicPr>
          <p:nvPr>
            <p:ph idx="1"/>
          </p:nvPr>
        </p:nvPicPr>
        <p:blipFill>
          <a:blip r:embed="rId2"/>
          <a:srcRect/>
          <a:stretch>
            <a:fillRect/>
          </a:stretch>
        </p:blipFill>
        <p:spPr bwMode="auto">
          <a:xfrm>
            <a:off x="2000232" y="1473157"/>
            <a:ext cx="3786214" cy="49633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5" name="Picture 5" descr="Tigoul3a"/>
          <p:cNvPicPr>
            <a:picLocks noChangeAspect="1" noChangeArrowheads="1"/>
          </p:cNvPicPr>
          <p:nvPr/>
        </p:nvPicPr>
        <p:blipFill>
          <a:blip r:embed="rId3"/>
          <a:srcRect/>
          <a:stretch>
            <a:fillRect/>
          </a:stretch>
        </p:blipFill>
        <p:spPr bwMode="auto">
          <a:xfrm>
            <a:off x="323850" y="1989138"/>
            <a:ext cx="4606925" cy="3063875"/>
          </a:xfrm>
          <a:prstGeom prst="rect">
            <a:avLst/>
          </a:prstGeom>
          <a:noFill/>
        </p:spPr>
      </p:pic>
      <p:pic>
        <p:nvPicPr>
          <p:cNvPr id="71687" name="Picture 7" descr="Head-cervical-LN"/>
          <p:cNvPicPr>
            <a:picLocks noChangeAspect="1" noChangeArrowheads="1"/>
          </p:cNvPicPr>
          <p:nvPr/>
        </p:nvPicPr>
        <p:blipFill>
          <a:blip r:embed="rId4" cstate="print"/>
          <a:srcRect/>
          <a:stretch>
            <a:fillRect/>
          </a:stretch>
        </p:blipFill>
        <p:spPr bwMode="auto">
          <a:xfrm>
            <a:off x="5364163" y="2205038"/>
            <a:ext cx="2286000" cy="1714500"/>
          </a:xfrm>
          <a:prstGeom prst="rect">
            <a:avLst/>
          </a:prstGeom>
          <a:noFill/>
        </p:spPr>
      </p:pic>
      <p:sp>
        <p:nvSpPr>
          <p:cNvPr id="71688" name="Text Box 8"/>
          <p:cNvSpPr txBox="1">
            <a:spLocks noChangeArrowheads="1"/>
          </p:cNvSpPr>
          <p:nvPr/>
        </p:nvSpPr>
        <p:spPr bwMode="auto">
          <a:xfrm>
            <a:off x="5508625" y="4292600"/>
            <a:ext cx="2232025" cy="366713"/>
          </a:xfrm>
          <a:prstGeom prst="rect">
            <a:avLst/>
          </a:prstGeom>
          <a:noFill/>
          <a:ln w="9525">
            <a:noFill/>
            <a:miter lim="800000"/>
            <a:headEnd/>
            <a:tailEnd/>
          </a:ln>
          <a:effectLst/>
        </p:spPr>
        <p:txBody>
          <a:bodyPr>
            <a:spAutoFit/>
          </a:bodyPr>
          <a:lstStyle/>
          <a:p>
            <a:pPr algn="ctr">
              <a:spcBef>
                <a:spcPct val="50000"/>
              </a:spcBef>
            </a:pPr>
            <a:r>
              <a:rPr lang="fr-FR" dirty="0"/>
              <a:t>adénopathie</a:t>
            </a:r>
          </a:p>
        </p:txBody>
      </p:sp>
      <p:sp>
        <p:nvSpPr>
          <p:cNvPr id="71689" name="Text Box 9"/>
          <p:cNvSpPr txBox="1">
            <a:spLocks noChangeArrowheads="1"/>
          </p:cNvSpPr>
          <p:nvPr/>
        </p:nvSpPr>
        <p:spPr bwMode="auto">
          <a:xfrm>
            <a:off x="611188" y="5300663"/>
            <a:ext cx="3673475" cy="366712"/>
          </a:xfrm>
          <a:prstGeom prst="rect">
            <a:avLst/>
          </a:prstGeom>
          <a:noFill/>
          <a:ln w="9525">
            <a:noFill/>
            <a:miter lim="800000"/>
            <a:headEnd/>
            <a:tailEnd/>
          </a:ln>
          <a:effectLst/>
        </p:spPr>
        <p:txBody>
          <a:bodyPr>
            <a:spAutoFit/>
          </a:bodyPr>
          <a:lstStyle/>
          <a:p>
            <a:pPr>
              <a:spcBef>
                <a:spcPct val="50000"/>
              </a:spcBef>
            </a:pPr>
            <a:endParaRPr lang="fr-FR" dirty="0"/>
          </a:p>
        </p:txBody>
      </p:sp>
      <p:sp>
        <p:nvSpPr>
          <p:cNvPr id="71691" name="Text Box 11"/>
          <p:cNvSpPr txBox="1">
            <a:spLocks noChangeArrowheads="1"/>
          </p:cNvSpPr>
          <p:nvPr/>
        </p:nvSpPr>
        <p:spPr bwMode="auto">
          <a:xfrm>
            <a:off x="611188" y="5300663"/>
            <a:ext cx="3529012" cy="366712"/>
          </a:xfrm>
          <a:prstGeom prst="rect">
            <a:avLst/>
          </a:prstGeom>
          <a:noFill/>
          <a:ln w="9525">
            <a:noFill/>
            <a:miter lim="800000"/>
            <a:headEnd/>
            <a:tailEnd/>
          </a:ln>
          <a:effectLst/>
        </p:spPr>
        <p:txBody>
          <a:bodyPr>
            <a:spAutoFit/>
          </a:bodyPr>
          <a:lstStyle/>
          <a:p>
            <a:pPr algn="ctr">
              <a:spcBef>
                <a:spcPct val="50000"/>
              </a:spcBef>
            </a:pPr>
            <a:r>
              <a:rPr lang="fr-FR" dirty="0"/>
              <a:t>Adénopathie </a:t>
            </a:r>
            <a:r>
              <a:rPr lang="fr-FR" dirty="0" err="1"/>
              <a:t>fistulisée</a:t>
            </a:r>
            <a:endParaRPr lang="fr-F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21" name="Picture 5" descr="behcet012006_2">
            <a:hlinkClick r:id="rId3"/>
          </p:cNvPr>
          <p:cNvPicPr>
            <a:picLocks noChangeAspect="1" noChangeArrowheads="1"/>
          </p:cNvPicPr>
          <p:nvPr/>
        </p:nvPicPr>
        <p:blipFill>
          <a:blip r:embed="rId4"/>
          <a:srcRect/>
          <a:stretch>
            <a:fillRect/>
          </a:stretch>
        </p:blipFill>
        <p:spPr bwMode="auto">
          <a:xfrm>
            <a:off x="3514725" y="2640013"/>
            <a:ext cx="2114550" cy="1577975"/>
          </a:xfrm>
          <a:prstGeom prst="rect">
            <a:avLst/>
          </a:prstGeom>
          <a:noFill/>
        </p:spPr>
      </p:pic>
      <p:pic>
        <p:nvPicPr>
          <p:cNvPr id="86023" name="Picture 7" descr="behcet012006_2"/>
          <p:cNvPicPr>
            <a:picLocks noChangeAspect="1" noChangeArrowheads="1"/>
          </p:cNvPicPr>
          <p:nvPr/>
        </p:nvPicPr>
        <p:blipFill>
          <a:blip r:embed="rId5"/>
          <a:srcRect/>
          <a:stretch>
            <a:fillRect/>
          </a:stretch>
        </p:blipFill>
        <p:spPr bwMode="auto">
          <a:xfrm>
            <a:off x="1042988" y="765175"/>
            <a:ext cx="7056437" cy="5295900"/>
          </a:xfrm>
          <a:prstGeom prst="rect">
            <a:avLst/>
          </a:prstGeom>
          <a:noFill/>
        </p:spPr>
      </p:pic>
      <p:sp>
        <p:nvSpPr>
          <p:cNvPr id="86024" name="Text Box 8"/>
          <p:cNvSpPr txBox="1">
            <a:spLocks noChangeArrowheads="1"/>
          </p:cNvSpPr>
          <p:nvPr/>
        </p:nvSpPr>
        <p:spPr bwMode="auto">
          <a:xfrm>
            <a:off x="1331913" y="6299200"/>
            <a:ext cx="6192837" cy="366713"/>
          </a:xfrm>
          <a:prstGeom prst="rect">
            <a:avLst/>
          </a:prstGeom>
          <a:noFill/>
          <a:ln w="9525">
            <a:noFill/>
            <a:miter lim="800000"/>
            <a:headEnd/>
            <a:tailEnd/>
          </a:ln>
          <a:effectLst/>
        </p:spPr>
        <p:txBody>
          <a:bodyPr>
            <a:spAutoFit/>
          </a:bodyPr>
          <a:lstStyle/>
          <a:p>
            <a:pPr algn="ctr">
              <a:spcBef>
                <a:spcPct val="50000"/>
              </a:spcBef>
            </a:pPr>
            <a:r>
              <a:rPr lang="fr-FR"/>
              <a:t>Pseudo-folluculite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5" name="Picture 5" descr="image01"/>
          <p:cNvPicPr>
            <a:picLocks noChangeAspect="1" noChangeArrowheads="1"/>
          </p:cNvPicPr>
          <p:nvPr/>
        </p:nvPicPr>
        <p:blipFill>
          <a:blip r:embed="rId3"/>
          <a:srcRect/>
          <a:stretch>
            <a:fillRect/>
          </a:stretch>
        </p:blipFill>
        <p:spPr bwMode="auto">
          <a:xfrm>
            <a:off x="1042988" y="620713"/>
            <a:ext cx="7056437" cy="5295900"/>
          </a:xfrm>
          <a:prstGeom prst="rect">
            <a:avLst/>
          </a:prstGeom>
          <a:noFill/>
        </p:spPr>
      </p:pic>
      <p:sp>
        <p:nvSpPr>
          <p:cNvPr id="87046" name="Text Box 6"/>
          <p:cNvSpPr txBox="1">
            <a:spLocks noChangeArrowheads="1"/>
          </p:cNvSpPr>
          <p:nvPr/>
        </p:nvSpPr>
        <p:spPr bwMode="auto">
          <a:xfrm>
            <a:off x="2411413" y="6237288"/>
            <a:ext cx="4608512" cy="366712"/>
          </a:xfrm>
          <a:prstGeom prst="rect">
            <a:avLst/>
          </a:prstGeom>
          <a:noFill/>
          <a:ln w="9525">
            <a:noFill/>
            <a:miter lim="800000"/>
            <a:headEnd/>
            <a:tailEnd/>
          </a:ln>
          <a:effectLst/>
        </p:spPr>
        <p:txBody>
          <a:bodyPr>
            <a:spAutoFit/>
          </a:bodyPr>
          <a:lstStyle/>
          <a:p>
            <a:pPr algn="ctr">
              <a:spcBef>
                <a:spcPct val="50000"/>
              </a:spcBef>
            </a:pPr>
            <a:r>
              <a:rPr lang="fr-FR"/>
              <a:t>Aphtose buccale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890" name="Picture 2" descr="AIM0102-04-161"/>
          <p:cNvPicPr>
            <a:picLocks noChangeAspect="1" noChangeArrowheads="1"/>
          </p:cNvPicPr>
          <p:nvPr/>
        </p:nvPicPr>
        <p:blipFill>
          <a:blip r:embed="rId3"/>
          <a:srcRect/>
          <a:stretch>
            <a:fillRect/>
          </a:stretch>
        </p:blipFill>
        <p:spPr bwMode="auto">
          <a:xfrm>
            <a:off x="1428750" y="742950"/>
            <a:ext cx="6286500" cy="5372100"/>
          </a:xfrm>
          <a:prstGeom prst="rect">
            <a:avLst/>
          </a:prstGeom>
          <a:noFill/>
        </p:spPr>
      </p:pic>
      <p:sp>
        <p:nvSpPr>
          <p:cNvPr id="293891" name="Text Box 3"/>
          <p:cNvSpPr txBox="1">
            <a:spLocks noChangeArrowheads="1"/>
          </p:cNvSpPr>
          <p:nvPr/>
        </p:nvSpPr>
        <p:spPr bwMode="auto">
          <a:xfrm>
            <a:off x="2484438" y="6308725"/>
            <a:ext cx="4679950" cy="366713"/>
          </a:xfrm>
          <a:prstGeom prst="rect">
            <a:avLst/>
          </a:prstGeom>
          <a:noFill/>
          <a:ln w="9525">
            <a:noFill/>
            <a:miter lim="800000"/>
            <a:headEnd/>
            <a:tailEnd/>
          </a:ln>
          <a:effectLst/>
        </p:spPr>
        <p:txBody>
          <a:bodyPr>
            <a:spAutoFit/>
          </a:bodyPr>
          <a:lstStyle/>
          <a:p>
            <a:pPr algn="ctr">
              <a:spcBef>
                <a:spcPct val="50000"/>
              </a:spcBef>
            </a:pPr>
            <a:r>
              <a:rPr lang="fr-FR"/>
              <a:t>Sarcoidose cutanée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9" name="Picture 5" descr="Upper-cyanosis2"/>
          <p:cNvPicPr>
            <a:picLocks noChangeAspect="1" noChangeArrowheads="1"/>
          </p:cNvPicPr>
          <p:nvPr/>
        </p:nvPicPr>
        <p:blipFill>
          <a:blip r:embed="rId3"/>
          <a:srcRect/>
          <a:stretch>
            <a:fillRect/>
          </a:stretch>
        </p:blipFill>
        <p:spPr bwMode="auto">
          <a:xfrm>
            <a:off x="1258888" y="404813"/>
            <a:ext cx="6481762" cy="4535487"/>
          </a:xfrm>
          <a:prstGeom prst="rect">
            <a:avLst/>
          </a:prstGeom>
          <a:noFill/>
        </p:spPr>
      </p:pic>
      <p:sp>
        <p:nvSpPr>
          <p:cNvPr id="82950" name="Rectangle 6"/>
          <p:cNvSpPr>
            <a:spLocks noChangeArrowheads="1"/>
          </p:cNvSpPr>
          <p:nvPr/>
        </p:nvSpPr>
        <p:spPr bwMode="auto">
          <a:xfrm>
            <a:off x="3924300" y="5445125"/>
            <a:ext cx="1035050" cy="366713"/>
          </a:xfrm>
          <a:prstGeom prst="rect">
            <a:avLst/>
          </a:prstGeom>
          <a:noFill/>
          <a:ln w="9525">
            <a:noFill/>
            <a:miter lim="800000"/>
            <a:headEnd/>
            <a:tailEnd/>
          </a:ln>
          <a:effectLst/>
        </p:spPr>
        <p:txBody>
          <a:bodyPr wrap="none">
            <a:spAutoFit/>
          </a:bodyPr>
          <a:lstStyle/>
          <a:p>
            <a:r>
              <a:rPr lang="fr-FR"/>
              <a:t>cyanose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86" name="Picture 2"/>
          <p:cNvPicPr>
            <a:picLocks noChangeAspect="1" noChangeArrowheads="1"/>
          </p:cNvPicPr>
          <p:nvPr/>
        </p:nvPicPr>
        <p:blipFill>
          <a:blip r:embed="rId3"/>
          <a:srcRect/>
          <a:stretch>
            <a:fillRect/>
          </a:stretch>
        </p:blipFill>
        <p:spPr bwMode="auto">
          <a:xfrm>
            <a:off x="755650" y="333375"/>
            <a:ext cx="4084638" cy="5283200"/>
          </a:xfrm>
          <a:prstGeom prst="rect">
            <a:avLst/>
          </a:prstGeom>
          <a:noFill/>
          <a:ln w="9525">
            <a:noFill/>
            <a:miter lim="800000"/>
            <a:headEnd/>
            <a:tailEnd/>
          </a:ln>
          <a:effectLst/>
        </p:spPr>
      </p:pic>
      <p:pic>
        <p:nvPicPr>
          <p:cNvPr id="297987" name="Picture 3"/>
          <p:cNvPicPr>
            <a:picLocks noChangeAspect="1" noChangeArrowheads="1"/>
          </p:cNvPicPr>
          <p:nvPr/>
        </p:nvPicPr>
        <p:blipFill>
          <a:blip r:embed="rId4"/>
          <a:srcRect/>
          <a:stretch>
            <a:fillRect/>
          </a:stretch>
        </p:blipFill>
        <p:spPr bwMode="auto">
          <a:xfrm>
            <a:off x="5435600" y="1268413"/>
            <a:ext cx="3313113" cy="1944687"/>
          </a:xfrm>
          <a:prstGeom prst="rect">
            <a:avLst/>
          </a:prstGeom>
          <a:noFill/>
          <a:ln w="9525">
            <a:noFill/>
            <a:miter lim="800000"/>
            <a:headEnd/>
            <a:tailEnd/>
          </a:ln>
          <a:effectLst/>
        </p:spPr>
      </p:pic>
      <p:sp>
        <p:nvSpPr>
          <p:cNvPr id="297988" name="Text Box 4"/>
          <p:cNvSpPr txBox="1">
            <a:spLocks noChangeArrowheads="1"/>
          </p:cNvSpPr>
          <p:nvPr/>
        </p:nvSpPr>
        <p:spPr bwMode="auto">
          <a:xfrm>
            <a:off x="1042988" y="5805488"/>
            <a:ext cx="3529012" cy="366712"/>
          </a:xfrm>
          <a:prstGeom prst="rect">
            <a:avLst/>
          </a:prstGeom>
          <a:noFill/>
          <a:ln w="9525">
            <a:noFill/>
            <a:miter lim="800000"/>
            <a:headEnd/>
            <a:tailEnd/>
          </a:ln>
          <a:effectLst/>
        </p:spPr>
        <p:txBody>
          <a:bodyPr>
            <a:spAutoFit/>
          </a:bodyPr>
          <a:lstStyle/>
          <a:p>
            <a:pPr algn="ctr">
              <a:spcBef>
                <a:spcPct val="50000"/>
              </a:spcBef>
            </a:pPr>
            <a:r>
              <a:rPr lang="fr-FR"/>
              <a:t>cyanose</a:t>
            </a:r>
          </a:p>
        </p:txBody>
      </p:sp>
      <p:sp>
        <p:nvSpPr>
          <p:cNvPr id="297989" name="Text Box 5"/>
          <p:cNvSpPr txBox="1">
            <a:spLocks noChangeArrowheads="1"/>
          </p:cNvSpPr>
          <p:nvPr/>
        </p:nvSpPr>
        <p:spPr bwMode="auto">
          <a:xfrm>
            <a:off x="6156325" y="3716338"/>
            <a:ext cx="2339975" cy="366712"/>
          </a:xfrm>
          <a:prstGeom prst="rect">
            <a:avLst/>
          </a:prstGeom>
          <a:noFill/>
          <a:ln w="9525">
            <a:noFill/>
            <a:miter lim="800000"/>
            <a:headEnd/>
            <a:tailEnd/>
          </a:ln>
          <a:effectLst/>
        </p:spPr>
        <p:txBody>
          <a:bodyPr>
            <a:spAutoFit/>
          </a:bodyPr>
          <a:lstStyle/>
          <a:p>
            <a:pPr algn="ctr">
              <a:spcBef>
                <a:spcPct val="50000"/>
              </a:spcBef>
            </a:pPr>
            <a:r>
              <a:rPr lang="fr-FR"/>
              <a:t>asterixis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5" descr="image10b"/>
          <p:cNvPicPr>
            <a:picLocks noChangeAspect="1" noChangeArrowheads="1"/>
          </p:cNvPicPr>
          <p:nvPr/>
        </p:nvPicPr>
        <p:blipFill>
          <a:blip r:embed="rId3"/>
          <a:srcRect/>
          <a:stretch>
            <a:fillRect/>
          </a:stretch>
        </p:blipFill>
        <p:spPr bwMode="auto">
          <a:xfrm>
            <a:off x="1547813" y="549275"/>
            <a:ext cx="6192837" cy="5327650"/>
          </a:xfrm>
          <a:prstGeom prst="rect">
            <a:avLst/>
          </a:prstGeom>
          <a:noFill/>
        </p:spPr>
      </p:pic>
      <p:sp>
        <p:nvSpPr>
          <p:cNvPr id="88070" name="Text Box 6"/>
          <p:cNvSpPr txBox="1">
            <a:spLocks noChangeArrowheads="1"/>
          </p:cNvSpPr>
          <p:nvPr/>
        </p:nvSpPr>
        <p:spPr bwMode="auto">
          <a:xfrm>
            <a:off x="2268538" y="6165850"/>
            <a:ext cx="4895850" cy="366713"/>
          </a:xfrm>
          <a:prstGeom prst="rect">
            <a:avLst/>
          </a:prstGeom>
          <a:noFill/>
          <a:ln w="9525">
            <a:noFill/>
            <a:miter lim="800000"/>
            <a:headEnd/>
            <a:tailEnd/>
          </a:ln>
          <a:effectLst/>
        </p:spPr>
        <p:txBody>
          <a:bodyPr>
            <a:spAutoFit/>
          </a:bodyPr>
          <a:lstStyle/>
          <a:p>
            <a:pPr algn="ctr">
              <a:spcBef>
                <a:spcPct val="50000"/>
              </a:spcBef>
            </a:pPr>
            <a:r>
              <a:rPr lang="fr-FR"/>
              <a:t>Circulation veineuse collatérale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1" name="Picture 5" descr="f034">
            <a:hlinkClick r:id="rId3"/>
          </p:cNvPr>
          <p:cNvPicPr>
            <a:picLocks noChangeAspect="1" noChangeArrowheads="1"/>
          </p:cNvPicPr>
          <p:nvPr/>
        </p:nvPicPr>
        <p:blipFill>
          <a:blip r:embed="rId4"/>
          <a:srcRect/>
          <a:stretch>
            <a:fillRect/>
          </a:stretch>
        </p:blipFill>
        <p:spPr bwMode="auto">
          <a:xfrm>
            <a:off x="755650" y="1700213"/>
            <a:ext cx="3457575" cy="3225800"/>
          </a:xfrm>
          <a:prstGeom prst="rect">
            <a:avLst/>
          </a:prstGeom>
          <a:noFill/>
        </p:spPr>
      </p:pic>
      <p:pic>
        <p:nvPicPr>
          <p:cNvPr id="70663" name="Picture 7" descr="cbh">
            <a:hlinkClick r:id="rId5"/>
          </p:cNvPr>
          <p:cNvPicPr>
            <a:picLocks noChangeAspect="1" noChangeArrowheads="1"/>
          </p:cNvPicPr>
          <p:nvPr/>
        </p:nvPicPr>
        <p:blipFill>
          <a:blip r:embed="rId6"/>
          <a:srcRect/>
          <a:stretch>
            <a:fillRect/>
          </a:stretch>
        </p:blipFill>
        <p:spPr bwMode="auto">
          <a:xfrm>
            <a:off x="5003800" y="2060575"/>
            <a:ext cx="3671888" cy="2089150"/>
          </a:xfrm>
          <a:prstGeom prst="rect">
            <a:avLst/>
          </a:prstGeom>
          <a:noFill/>
        </p:spPr>
      </p:pic>
      <p:sp>
        <p:nvSpPr>
          <p:cNvPr id="70664" name="Rectangle 8"/>
          <p:cNvSpPr>
            <a:spLocks noChangeArrowheads="1"/>
          </p:cNvSpPr>
          <p:nvPr/>
        </p:nvSpPr>
        <p:spPr bwMode="auto">
          <a:xfrm>
            <a:off x="3132138" y="5084763"/>
            <a:ext cx="4222750" cy="366712"/>
          </a:xfrm>
          <a:prstGeom prst="rect">
            <a:avLst/>
          </a:prstGeom>
          <a:noFill/>
          <a:ln w="9525">
            <a:noFill/>
            <a:miter lim="800000"/>
            <a:headEnd/>
            <a:tailEnd/>
          </a:ln>
          <a:effectLst/>
        </p:spPr>
        <p:txBody>
          <a:bodyPr wrap="none">
            <a:spAutoFit/>
          </a:bodyPr>
          <a:lstStyle/>
          <a:p>
            <a:r>
              <a:rPr lang="fr-FR" b="1"/>
              <a:t>Syndrome de Claude Bernard-Horner</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1785926"/>
            <a:ext cx="8072494" cy="3693319"/>
          </a:xfrm>
          <a:prstGeom prst="rect">
            <a:avLst/>
          </a:prstGeom>
        </p:spPr>
        <p:txBody>
          <a:bodyPr wrap="square">
            <a:spAutoFit/>
          </a:bodyPr>
          <a:lstStyle/>
          <a:p>
            <a:r>
              <a:rPr lang="fr-FR" dirty="0" smtClean="0">
                <a:latin typeface="Calibri" pitchFamily="34" charset="0"/>
                <a:cs typeface="Calibri" pitchFamily="34" charset="0"/>
              </a:rPr>
              <a:t>En cas de pathologie aigue d'organe, on commence par l'examen de cette région. Dans les autres cas, l'examen peut être mené de façon systématique, appareil par appareil, ou de façon topographique (de la tête</a:t>
            </a:r>
          </a:p>
          <a:p>
            <a:r>
              <a:rPr lang="fr-FR" dirty="0" smtClean="0">
                <a:latin typeface="Calibri" pitchFamily="34" charset="0"/>
                <a:cs typeface="Calibri" pitchFamily="34" charset="0"/>
              </a:rPr>
              <a:t>aux pieds).</a:t>
            </a:r>
          </a:p>
          <a:p>
            <a:r>
              <a:rPr lang="fr-FR" dirty="0" smtClean="0">
                <a:latin typeface="Calibri" pitchFamily="34" charset="0"/>
                <a:cs typeface="Calibri" pitchFamily="34" charset="0"/>
              </a:rPr>
              <a:t>Pour chaque système, l'examen physique se fait selon la même séquence :</a:t>
            </a:r>
          </a:p>
          <a:p>
            <a:endParaRPr lang="fr-FR" dirty="0" smtClean="0">
              <a:latin typeface="Calibri" pitchFamily="34" charset="0"/>
              <a:cs typeface="Calibri" pitchFamily="34" charset="0"/>
            </a:endParaRPr>
          </a:p>
          <a:p>
            <a:pPr>
              <a:buFont typeface="Wingdings" pitchFamily="2" charset="2"/>
              <a:buChar char="Ø"/>
            </a:pPr>
            <a:r>
              <a:rPr lang="fr-FR" dirty="0" smtClean="0">
                <a:latin typeface="Calibri" pitchFamily="34" charset="0"/>
                <a:cs typeface="Calibri" pitchFamily="34" charset="0"/>
              </a:rPr>
              <a:t>Inspection. </a:t>
            </a:r>
          </a:p>
          <a:p>
            <a:pPr>
              <a:buFont typeface="Wingdings" pitchFamily="2" charset="2"/>
              <a:buChar char="Ø"/>
            </a:pPr>
            <a:endParaRPr lang="fr-FR" dirty="0" smtClean="0">
              <a:latin typeface="Calibri" pitchFamily="34" charset="0"/>
              <a:cs typeface="Calibri" pitchFamily="34" charset="0"/>
            </a:endParaRPr>
          </a:p>
          <a:p>
            <a:pPr>
              <a:buFont typeface="Wingdings" pitchFamily="2" charset="2"/>
              <a:buChar char="Ø"/>
            </a:pPr>
            <a:r>
              <a:rPr lang="fr-FR" dirty="0" smtClean="0">
                <a:latin typeface="Calibri" pitchFamily="34" charset="0"/>
                <a:cs typeface="Calibri" pitchFamily="34" charset="0"/>
              </a:rPr>
              <a:t>Palpation. </a:t>
            </a:r>
          </a:p>
          <a:p>
            <a:pPr>
              <a:buFont typeface="Wingdings" pitchFamily="2" charset="2"/>
              <a:buChar char="Ø"/>
            </a:pPr>
            <a:endParaRPr lang="fr-FR" dirty="0" smtClean="0">
              <a:latin typeface="Calibri" pitchFamily="34" charset="0"/>
              <a:cs typeface="Calibri" pitchFamily="34" charset="0"/>
            </a:endParaRPr>
          </a:p>
          <a:p>
            <a:pPr>
              <a:buFont typeface="Wingdings" pitchFamily="2" charset="2"/>
              <a:buChar char="Ø"/>
            </a:pPr>
            <a:r>
              <a:rPr lang="fr-FR" dirty="0" smtClean="0">
                <a:latin typeface="Calibri" pitchFamily="34" charset="0"/>
                <a:cs typeface="Calibri" pitchFamily="34" charset="0"/>
              </a:rPr>
              <a:t>Percussion. </a:t>
            </a:r>
          </a:p>
          <a:p>
            <a:endParaRPr lang="fr-FR" dirty="0" smtClean="0">
              <a:latin typeface="Calibri" pitchFamily="34" charset="0"/>
              <a:cs typeface="Calibri" pitchFamily="34" charset="0"/>
            </a:endParaRPr>
          </a:p>
          <a:p>
            <a:pPr>
              <a:buFont typeface="Wingdings" pitchFamily="2" charset="2"/>
              <a:buChar char="Ø"/>
            </a:pPr>
            <a:r>
              <a:rPr lang="fr-FR" dirty="0" smtClean="0">
                <a:latin typeface="Calibri" pitchFamily="34" charset="0"/>
                <a:cs typeface="Calibri" pitchFamily="34" charset="0"/>
              </a:rPr>
              <a:t>Auscultation.</a:t>
            </a:r>
            <a:r>
              <a:rPr lang="fr-FR" dirty="0" smtClean="0"/>
              <a:t> </a:t>
            </a:r>
            <a:endParaRPr lang="fr-FR" dirty="0"/>
          </a:p>
        </p:txBody>
      </p:sp>
      <p:sp>
        <p:nvSpPr>
          <p:cNvPr id="3" name="Rectangle 2"/>
          <p:cNvSpPr/>
          <p:nvPr/>
        </p:nvSpPr>
        <p:spPr>
          <a:xfrm>
            <a:off x="285720" y="500042"/>
            <a:ext cx="8143932" cy="646331"/>
          </a:xfrm>
          <a:prstGeom prst="rect">
            <a:avLst/>
          </a:prstGeom>
        </p:spPr>
        <p:txBody>
          <a:bodyPr wrap="square">
            <a:spAutoFit/>
          </a:bodyPr>
          <a:lstStyle/>
          <a:p>
            <a:r>
              <a:rPr lang="fr-FR" sz="3600" dirty="0" smtClean="0"/>
              <a:t>EXAMEN CLINIQUE</a:t>
            </a:r>
            <a:r>
              <a:rPr lang="fr-FR" dirty="0" smtClean="0"/>
              <a:t>: </a:t>
            </a:r>
            <a:endParaRPr lang="fr-F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285720" y="214290"/>
            <a:ext cx="8401080" cy="928710"/>
          </a:xfrm>
        </p:spPr>
        <p:txBody>
          <a:bodyPr>
            <a:noAutofit/>
          </a:bodyPr>
          <a:lstStyle/>
          <a:p>
            <a:r>
              <a:rPr lang="fr-FR" sz="3200" dirty="0" smtClean="0"/>
              <a:t>EXAMEN CLINIQUE: APPAREIL RESPIRATOIRE </a:t>
            </a:r>
            <a:br>
              <a:rPr lang="fr-FR" sz="3200" dirty="0" smtClean="0"/>
            </a:br>
            <a:r>
              <a:rPr lang="fr-FR" sz="3200" dirty="0" smtClean="0"/>
              <a:t>Palpation/Percussion</a:t>
            </a:r>
            <a:endParaRPr lang="fr-FR" sz="3200" dirty="0"/>
          </a:p>
        </p:txBody>
      </p:sp>
      <p:sp>
        <p:nvSpPr>
          <p:cNvPr id="7" name="Espace réservé du contenu 6"/>
          <p:cNvSpPr>
            <a:spLocks noGrp="1"/>
          </p:cNvSpPr>
          <p:nvPr>
            <p:ph sz="quarter" idx="2"/>
          </p:nvPr>
        </p:nvSpPr>
        <p:spPr/>
        <p:txBody>
          <a:bodyPr>
            <a:normAutofit fontScale="62500" lnSpcReduction="20000"/>
          </a:bodyPr>
          <a:lstStyle/>
          <a:p>
            <a:r>
              <a:rPr lang="fr-FR" b="1" dirty="0" smtClean="0"/>
              <a:t>DIMINUEES</a:t>
            </a:r>
          </a:p>
          <a:p>
            <a:pPr>
              <a:buFont typeface="Symbol" pitchFamily="18" charset="2"/>
              <a:buChar char="Þ"/>
            </a:pPr>
            <a:r>
              <a:rPr lang="fr-FR" dirty="0" smtClean="0"/>
              <a:t>Epanchement pleural</a:t>
            </a:r>
          </a:p>
          <a:p>
            <a:pPr>
              <a:buFont typeface="Courier New" pitchFamily="49" charset="0"/>
              <a:buChar char="o"/>
            </a:pPr>
            <a:r>
              <a:rPr lang="fr-FR" dirty="0" smtClean="0">
                <a:solidFill>
                  <a:srgbClr val="00B050"/>
                </a:solidFill>
              </a:rPr>
              <a:t>Pleurésie  </a:t>
            </a:r>
          </a:p>
          <a:p>
            <a:pPr>
              <a:buFont typeface="Courier New" pitchFamily="49" charset="0"/>
              <a:buChar char="o"/>
            </a:pPr>
            <a:r>
              <a:rPr lang="fr-FR" dirty="0" smtClean="0">
                <a:solidFill>
                  <a:srgbClr val="00B050"/>
                </a:solidFill>
              </a:rPr>
              <a:t>Pneumothorax</a:t>
            </a:r>
          </a:p>
          <a:p>
            <a:pPr>
              <a:buFont typeface="Symbol" pitchFamily="18" charset="2"/>
              <a:buChar char="Þ"/>
            </a:pPr>
            <a:r>
              <a:rPr lang="fr-FR" dirty="0" smtClean="0"/>
              <a:t>Distension</a:t>
            </a:r>
          </a:p>
          <a:p>
            <a:pPr>
              <a:buFont typeface="Courier New" pitchFamily="49" charset="0"/>
              <a:buChar char="o"/>
            </a:pPr>
            <a:r>
              <a:rPr lang="fr-FR" dirty="0" smtClean="0">
                <a:solidFill>
                  <a:srgbClr val="00B050"/>
                </a:solidFill>
              </a:rPr>
              <a:t>Emphysème</a:t>
            </a:r>
          </a:p>
          <a:p>
            <a:pPr>
              <a:buFont typeface="Courier New" pitchFamily="49" charset="0"/>
              <a:buChar char="o"/>
            </a:pPr>
            <a:endParaRPr lang="fr-FR" dirty="0" smtClean="0">
              <a:solidFill>
                <a:srgbClr val="00B050"/>
              </a:solidFill>
            </a:endParaRPr>
          </a:p>
          <a:p>
            <a:pPr>
              <a:buFont typeface="Wingdings" pitchFamily="2" charset="2"/>
              <a:buChar char="q"/>
            </a:pPr>
            <a:r>
              <a:rPr lang="fr-FR" b="1" dirty="0" smtClean="0"/>
              <a:t>AUGMENTEES</a:t>
            </a:r>
          </a:p>
          <a:p>
            <a:pPr>
              <a:buFont typeface="Symbol" pitchFamily="18" charset="2"/>
              <a:buChar char="Þ"/>
            </a:pPr>
            <a:r>
              <a:rPr lang="fr-FR" dirty="0" smtClean="0"/>
              <a:t>Condensation</a:t>
            </a:r>
          </a:p>
          <a:p>
            <a:pPr>
              <a:buFont typeface="Courier New" pitchFamily="49" charset="0"/>
              <a:buChar char="o"/>
            </a:pPr>
            <a:r>
              <a:rPr lang="fr-FR" dirty="0" smtClean="0">
                <a:solidFill>
                  <a:srgbClr val="00B050"/>
                </a:solidFill>
              </a:rPr>
              <a:t>Pneumopathie</a:t>
            </a:r>
          </a:p>
          <a:p>
            <a:pPr>
              <a:buFont typeface="Courier New" pitchFamily="49" charset="0"/>
              <a:buChar char="o"/>
            </a:pPr>
            <a:r>
              <a:rPr lang="fr-FR" dirty="0" smtClean="0">
                <a:solidFill>
                  <a:srgbClr val="00B050"/>
                </a:solidFill>
              </a:rPr>
              <a:t>Atélectasie</a:t>
            </a:r>
          </a:p>
          <a:p>
            <a:pPr>
              <a:buFont typeface="Symbol" pitchFamily="18" charset="2"/>
              <a:buChar char="Þ"/>
            </a:pPr>
            <a:endParaRPr lang="fr-FR" dirty="0"/>
          </a:p>
        </p:txBody>
      </p:sp>
      <p:sp>
        <p:nvSpPr>
          <p:cNvPr id="9" name="Espace réservé du contenu 8"/>
          <p:cNvSpPr>
            <a:spLocks noGrp="1"/>
          </p:cNvSpPr>
          <p:nvPr>
            <p:ph sz="quarter" idx="4"/>
          </p:nvPr>
        </p:nvSpPr>
        <p:spPr/>
        <p:txBody>
          <a:bodyPr>
            <a:noAutofit/>
          </a:bodyPr>
          <a:lstStyle/>
          <a:p>
            <a:pPr>
              <a:buNone/>
            </a:pPr>
            <a:r>
              <a:rPr lang="fr-FR" sz="1600" b="1" dirty="0" smtClean="0"/>
              <a:t>TYMPANISME</a:t>
            </a:r>
            <a:endParaRPr lang="fr-FR" sz="1600" dirty="0" smtClean="0"/>
          </a:p>
          <a:p>
            <a:pPr>
              <a:buFont typeface="Symbol" pitchFamily="18" charset="2"/>
              <a:buChar char="Þ"/>
            </a:pPr>
            <a:r>
              <a:rPr lang="fr-FR" sz="1600" dirty="0" smtClean="0"/>
              <a:t> Air dans la plèvre:</a:t>
            </a:r>
          </a:p>
          <a:p>
            <a:pPr>
              <a:buFont typeface="Courier New" pitchFamily="49" charset="0"/>
              <a:buChar char="o"/>
            </a:pPr>
            <a:r>
              <a:rPr lang="fr-FR" sz="1600" dirty="0" smtClean="0">
                <a:solidFill>
                  <a:srgbClr val="00B050"/>
                </a:solidFill>
              </a:rPr>
              <a:t>Pneumothorax</a:t>
            </a:r>
          </a:p>
          <a:p>
            <a:pPr>
              <a:buFont typeface="Symbol" pitchFamily="18" charset="2"/>
              <a:buChar char="Þ"/>
            </a:pPr>
            <a:r>
              <a:rPr lang="fr-FR" sz="1600" dirty="0" smtClean="0"/>
              <a:t>Distension</a:t>
            </a:r>
          </a:p>
          <a:p>
            <a:pPr>
              <a:buFont typeface="Courier New" pitchFamily="49" charset="0"/>
              <a:buChar char="o"/>
            </a:pPr>
            <a:r>
              <a:rPr lang="fr-FR" sz="1600" dirty="0" smtClean="0">
                <a:solidFill>
                  <a:srgbClr val="00B050"/>
                </a:solidFill>
              </a:rPr>
              <a:t> Emphysème</a:t>
            </a:r>
          </a:p>
          <a:p>
            <a:pPr>
              <a:buFont typeface="Courier New" pitchFamily="49" charset="0"/>
              <a:buChar char="o"/>
            </a:pPr>
            <a:endParaRPr lang="fr-FR" sz="1600" dirty="0" smtClean="0"/>
          </a:p>
          <a:p>
            <a:r>
              <a:rPr lang="fr-FR" sz="1600" b="1" dirty="0" smtClean="0"/>
              <a:t>MATITE</a:t>
            </a:r>
            <a:endParaRPr lang="fr-FR" sz="1600" dirty="0" smtClean="0"/>
          </a:p>
          <a:p>
            <a:pPr>
              <a:buFont typeface="Symbol" pitchFamily="18" charset="2"/>
              <a:buChar char="Þ"/>
            </a:pPr>
            <a:r>
              <a:rPr lang="fr-FR" sz="1600" dirty="0" smtClean="0"/>
              <a:t>Liquide dans la plèvre</a:t>
            </a:r>
          </a:p>
          <a:p>
            <a:pPr>
              <a:buFont typeface="Courier New" pitchFamily="49" charset="0"/>
              <a:buChar char="o"/>
            </a:pPr>
            <a:r>
              <a:rPr lang="fr-FR" sz="1600" dirty="0" smtClean="0">
                <a:solidFill>
                  <a:srgbClr val="00B050"/>
                </a:solidFill>
              </a:rPr>
              <a:t> pleurésie</a:t>
            </a:r>
          </a:p>
          <a:p>
            <a:pPr>
              <a:buFont typeface="Symbol" pitchFamily="18" charset="2"/>
              <a:buChar char="Þ"/>
            </a:pPr>
            <a:r>
              <a:rPr lang="fr-FR" sz="1600" dirty="0" smtClean="0"/>
              <a:t>Condensation </a:t>
            </a:r>
          </a:p>
          <a:p>
            <a:pPr>
              <a:buFont typeface="Courier New" pitchFamily="49" charset="0"/>
              <a:buChar char="o"/>
            </a:pPr>
            <a:r>
              <a:rPr lang="fr-FR" sz="1600" dirty="0" smtClean="0">
                <a:solidFill>
                  <a:srgbClr val="00B050"/>
                </a:solidFill>
              </a:rPr>
              <a:t>Pneumopathie</a:t>
            </a:r>
          </a:p>
          <a:p>
            <a:pPr>
              <a:buFont typeface="Courier New" pitchFamily="49" charset="0"/>
              <a:buChar char="o"/>
            </a:pPr>
            <a:r>
              <a:rPr lang="fr-FR" sz="1600" dirty="0" smtClean="0">
                <a:solidFill>
                  <a:srgbClr val="00B050"/>
                </a:solidFill>
              </a:rPr>
              <a:t>Atélectasie</a:t>
            </a:r>
          </a:p>
        </p:txBody>
      </p:sp>
      <p:sp>
        <p:nvSpPr>
          <p:cNvPr id="6" name="Espace réservé du texte 5"/>
          <p:cNvSpPr>
            <a:spLocks noGrp="1"/>
          </p:cNvSpPr>
          <p:nvPr>
            <p:ph type="body" sz="quarter" idx="1"/>
          </p:nvPr>
        </p:nvSpPr>
        <p:spPr/>
        <p:txBody>
          <a:bodyPr>
            <a:normAutofit/>
          </a:bodyPr>
          <a:lstStyle/>
          <a:p>
            <a:r>
              <a:rPr lang="fr-FR" dirty="0" smtClean="0"/>
              <a:t>PALPATION (Vibrations vocales)</a:t>
            </a:r>
            <a:endParaRPr lang="fr-FR" dirty="0"/>
          </a:p>
        </p:txBody>
      </p:sp>
      <p:sp>
        <p:nvSpPr>
          <p:cNvPr id="8" name="Espace réservé du texte 7"/>
          <p:cNvSpPr>
            <a:spLocks noGrp="1"/>
          </p:cNvSpPr>
          <p:nvPr>
            <p:ph type="body" sz="quarter" idx="3"/>
          </p:nvPr>
        </p:nvSpPr>
        <p:spPr/>
        <p:txBody>
          <a:bodyPr/>
          <a:lstStyle/>
          <a:p>
            <a:r>
              <a:rPr lang="fr-FR" dirty="0" smtClean="0"/>
              <a:t>PERCUSSION</a:t>
            </a:r>
            <a:endParaRPr lang="fr-F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3" name="Picture 5" descr="Percussion"/>
          <p:cNvPicPr>
            <a:picLocks noChangeAspect="1" noChangeArrowheads="1"/>
          </p:cNvPicPr>
          <p:nvPr/>
        </p:nvPicPr>
        <p:blipFill>
          <a:blip r:embed="rId3"/>
          <a:srcRect/>
          <a:stretch>
            <a:fillRect/>
          </a:stretch>
        </p:blipFill>
        <p:spPr bwMode="auto">
          <a:xfrm>
            <a:off x="684213" y="692150"/>
            <a:ext cx="7488237" cy="4897438"/>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5" name="Picture 5" descr="lung-excursion"/>
          <p:cNvPicPr>
            <a:picLocks noChangeAspect="1" noChangeArrowheads="1"/>
          </p:cNvPicPr>
          <p:nvPr/>
        </p:nvPicPr>
        <p:blipFill>
          <a:blip r:embed="rId3"/>
          <a:srcRect/>
          <a:stretch>
            <a:fillRect/>
          </a:stretch>
        </p:blipFill>
        <p:spPr bwMode="auto">
          <a:xfrm>
            <a:off x="257175" y="195263"/>
            <a:ext cx="8629650" cy="6469062"/>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smtClean="0"/>
              <a:t>EXAMEN CLINIQUE</a:t>
            </a:r>
            <a:br>
              <a:rPr lang="fr-FR" sz="3600" dirty="0" smtClean="0"/>
            </a:br>
            <a:r>
              <a:rPr lang="fr-FR" sz="3600" dirty="0" smtClean="0"/>
              <a:t>Auscultation ( 1 )</a:t>
            </a:r>
            <a:endParaRPr lang="fr-FR" sz="3600" dirty="0"/>
          </a:p>
        </p:txBody>
      </p:sp>
      <p:sp>
        <p:nvSpPr>
          <p:cNvPr id="7" name="Espace réservé du contenu 6"/>
          <p:cNvSpPr>
            <a:spLocks noGrp="1"/>
          </p:cNvSpPr>
          <p:nvPr>
            <p:ph sz="quarter" idx="1"/>
          </p:nvPr>
        </p:nvSpPr>
        <p:spPr>
          <a:solidFill>
            <a:schemeClr val="bg1"/>
          </a:solidFill>
        </p:spPr>
        <p:txBody>
          <a:bodyPr>
            <a:normAutofit fontScale="70000" lnSpcReduction="20000"/>
          </a:bodyPr>
          <a:lstStyle/>
          <a:p>
            <a:r>
              <a:rPr lang="fr-FR" b="1" dirty="0" smtClean="0"/>
              <a:t>MURMURE VESICULAIRE</a:t>
            </a:r>
          </a:p>
          <a:p>
            <a:pPr>
              <a:buNone/>
            </a:pPr>
            <a:endParaRPr lang="fr-FR" b="1" dirty="0" smtClean="0"/>
          </a:p>
          <a:p>
            <a:pPr>
              <a:buFont typeface="Wingdings" pitchFamily="2" charset="2"/>
              <a:buChar char="Ø"/>
            </a:pPr>
            <a:r>
              <a:rPr lang="fr-FR" dirty="0" smtClean="0"/>
              <a:t>Mécanisme physiologique: Déplissement des alvéoles</a:t>
            </a:r>
          </a:p>
          <a:p>
            <a:pPr>
              <a:buNone/>
            </a:pPr>
            <a:endParaRPr lang="fr-FR" dirty="0" smtClean="0"/>
          </a:p>
          <a:p>
            <a:pPr>
              <a:buFont typeface="Wingdings" pitchFamily="2" charset="2"/>
              <a:buChar char="Ø"/>
            </a:pPr>
            <a:r>
              <a:rPr lang="fr-FR" dirty="0" smtClean="0"/>
              <a:t>Diminué</a:t>
            </a:r>
          </a:p>
          <a:p>
            <a:pPr>
              <a:buFont typeface="Symbol"/>
              <a:buChar char="Þ"/>
            </a:pPr>
            <a:r>
              <a:rPr lang="fr-FR" dirty="0" smtClean="0"/>
              <a:t>Air ou liquide dans la plèvre</a:t>
            </a:r>
          </a:p>
          <a:p>
            <a:pPr>
              <a:buFont typeface="Courier New" pitchFamily="49" charset="0"/>
              <a:buChar char="o"/>
            </a:pPr>
            <a:r>
              <a:rPr lang="fr-FR" dirty="0" smtClean="0">
                <a:solidFill>
                  <a:srgbClr val="00B050"/>
                </a:solidFill>
              </a:rPr>
              <a:t>Pleurésie</a:t>
            </a:r>
          </a:p>
          <a:p>
            <a:pPr>
              <a:buFont typeface="Courier New" pitchFamily="49" charset="0"/>
              <a:buChar char="o"/>
            </a:pPr>
            <a:r>
              <a:rPr lang="fr-FR" dirty="0" smtClean="0">
                <a:solidFill>
                  <a:srgbClr val="00B050"/>
                </a:solidFill>
              </a:rPr>
              <a:t>Pneumothorax</a:t>
            </a:r>
          </a:p>
          <a:p>
            <a:pPr>
              <a:buFont typeface="Symbol"/>
              <a:buChar char="Þ"/>
            </a:pPr>
            <a:r>
              <a:rPr lang="fr-FR" dirty="0" smtClean="0"/>
              <a:t>Distension</a:t>
            </a:r>
          </a:p>
          <a:p>
            <a:pPr>
              <a:buFont typeface="Courier New" pitchFamily="49" charset="0"/>
              <a:buChar char="o"/>
            </a:pPr>
            <a:r>
              <a:rPr lang="fr-FR" dirty="0" smtClean="0">
                <a:solidFill>
                  <a:srgbClr val="00B050"/>
                </a:solidFill>
              </a:rPr>
              <a:t>Emphysème</a:t>
            </a:r>
          </a:p>
          <a:p>
            <a:pPr>
              <a:buNone/>
            </a:pPr>
            <a:endParaRPr lang="fr-FR" dirty="0" smtClean="0"/>
          </a:p>
          <a:p>
            <a:r>
              <a:rPr lang="fr-FR" b="1" dirty="0" smtClean="0"/>
              <a:t>BRUITS SUR AJOUTES</a:t>
            </a:r>
          </a:p>
          <a:p>
            <a:pPr>
              <a:buNone/>
            </a:pPr>
            <a:r>
              <a:rPr lang="fr-FR" dirty="0" smtClean="0"/>
              <a:t>       Voir tableau</a:t>
            </a:r>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7" name="Picture 5" descr="normal auscultation"/>
          <p:cNvPicPr>
            <a:picLocks noChangeAspect="1" noChangeArrowheads="1"/>
          </p:cNvPicPr>
          <p:nvPr/>
        </p:nvPicPr>
        <p:blipFill>
          <a:blip r:embed="rId3"/>
          <a:srcRect/>
          <a:stretch>
            <a:fillRect/>
          </a:stretch>
        </p:blipFill>
        <p:spPr bwMode="auto">
          <a:xfrm>
            <a:off x="1042988" y="765175"/>
            <a:ext cx="6697662" cy="4824413"/>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re 16"/>
          <p:cNvSpPr>
            <a:spLocks noGrp="1"/>
          </p:cNvSpPr>
          <p:nvPr>
            <p:ph type="title"/>
          </p:nvPr>
        </p:nvSpPr>
        <p:spPr/>
        <p:txBody>
          <a:bodyPr>
            <a:noAutofit/>
          </a:bodyPr>
          <a:lstStyle/>
          <a:p>
            <a:r>
              <a:rPr lang="fr-FR" sz="3600" dirty="0" smtClean="0"/>
              <a:t>EXAMEN CLINIQUE:</a:t>
            </a:r>
            <a:br>
              <a:rPr lang="fr-FR" sz="3600" dirty="0" smtClean="0"/>
            </a:br>
            <a:r>
              <a:rPr lang="fr-FR" sz="3600" dirty="0" smtClean="0"/>
              <a:t>Auscultation ( 2 ): les bruits surajoutés</a:t>
            </a:r>
            <a:endParaRPr lang="fr-FR" sz="3600" dirty="0"/>
          </a:p>
        </p:txBody>
      </p:sp>
      <p:graphicFrame>
        <p:nvGraphicFramePr>
          <p:cNvPr id="5" name="Espace réservé du contenu 4"/>
          <p:cNvGraphicFramePr>
            <a:graphicFrameLocks noGrp="1"/>
          </p:cNvGraphicFramePr>
          <p:nvPr>
            <p:ph sz="quarter" idx="1"/>
            <p:extLst>
              <p:ext uri="{D42A27DB-BD31-4B8C-83A1-F6EECF244321}">
                <p14:modId xmlns="" xmlns:p14="http://schemas.microsoft.com/office/powerpoint/2010/main" val="3334663409"/>
              </p:ext>
            </p:extLst>
          </p:nvPr>
        </p:nvGraphicFramePr>
        <p:xfrm>
          <a:off x="323528" y="1700808"/>
          <a:ext cx="8595354" cy="4786504"/>
        </p:xfrm>
        <a:graphic>
          <a:graphicData uri="http://schemas.openxmlformats.org/drawingml/2006/table">
            <a:tbl>
              <a:tblPr firstRow="1" bandRow="1">
                <a:tableStyleId>{5C22544A-7EE6-4342-B048-85BDC9FD1C3A}</a:tableStyleId>
              </a:tblPr>
              <a:tblGrid>
                <a:gridCol w="2205118"/>
                <a:gridCol w="2205118"/>
                <a:gridCol w="2205118"/>
                <a:gridCol w="1980000"/>
              </a:tblGrid>
              <a:tr h="504056">
                <a:tc>
                  <a:txBody>
                    <a:bodyPr/>
                    <a:lstStyle/>
                    <a:p>
                      <a:endParaRPr lang="fr-FR" dirty="0"/>
                    </a:p>
                  </a:txBody>
                  <a:tcPr/>
                </a:tc>
                <a:tc>
                  <a:txBody>
                    <a:bodyPr/>
                    <a:lstStyle/>
                    <a:p>
                      <a:r>
                        <a:rPr lang="fr-FR" dirty="0" smtClean="0"/>
                        <a:t>       ASPECT</a:t>
                      </a:r>
                      <a:endParaRPr lang="fr-FR" dirty="0"/>
                    </a:p>
                  </a:txBody>
                  <a:tcPr/>
                </a:tc>
                <a:tc>
                  <a:txBody>
                    <a:bodyPr/>
                    <a:lstStyle/>
                    <a:p>
                      <a:r>
                        <a:rPr lang="fr-FR" dirty="0" smtClean="0"/>
                        <a:t>  PHYSIOLOGIE</a:t>
                      </a:r>
                      <a:endParaRPr lang="fr-FR" dirty="0"/>
                    </a:p>
                  </a:txBody>
                  <a:tcPr/>
                </a:tc>
                <a:tc>
                  <a:txBody>
                    <a:bodyPr/>
                    <a:lstStyle/>
                    <a:p>
                      <a:r>
                        <a:rPr lang="fr-FR" dirty="0" smtClean="0"/>
                        <a:t>VALEUR</a:t>
                      </a:r>
                      <a:r>
                        <a:rPr lang="fr-FR" baseline="0" dirty="0" smtClean="0"/>
                        <a:t> SEMIO</a:t>
                      </a:r>
                      <a:endParaRPr lang="fr-FR" dirty="0"/>
                    </a:p>
                  </a:txBody>
                  <a:tcPr/>
                </a:tc>
              </a:tr>
              <a:tr h="534573">
                <a:tc>
                  <a:txBody>
                    <a:bodyPr/>
                    <a:lstStyle/>
                    <a:p>
                      <a:r>
                        <a:rPr lang="fr-FR" sz="1400" dirty="0" smtClean="0"/>
                        <a:t>RALES RONFLANTS (RONCHI)</a:t>
                      </a:r>
                      <a:endParaRPr lang="fr-FR" sz="1400" dirty="0"/>
                    </a:p>
                  </a:txBody>
                  <a:tcPr/>
                </a:tc>
                <a:tc>
                  <a:txBody>
                    <a:bodyPr/>
                    <a:lstStyle/>
                    <a:p>
                      <a:r>
                        <a:rPr lang="fr-FR" sz="1400" dirty="0" smtClean="0"/>
                        <a:t>Gras, inspiratoire</a:t>
                      </a:r>
                      <a:r>
                        <a:rPr lang="fr-FR" sz="1400" baseline="0" dirty="0" smtClean="0"/>
                        <a:t>s </a:t>
                      </a:r>
                      <a:r>
                        <a:rPr lang="fr-FR" sz="1400" dirty="0" smtClean="0"/>
                        <a:t>et                              </a:t>
                      </a:r>
                      <a:r>
                        <a:rPr lang="fr-FR" sz="1400" baseline="0" dirty="0" smtClean="0"/>
                        <a:t>       e</a:t>
                      </a:r>
                      <a:r>
                        <a:rPr lang="fr-FR" sz="1400" dirty="0" smtClean="0"/>
                        <a:t>xpiratoires</a:t>
                      </a:r>
                      <a:endParaRPr lang="fr-FR" sz="1400" dirty="0"/>
                    </a:p>
                  </a:txBody>
                  <a:tcPr/>
                </a:tc>
                <a:tc>
                  <a:txBody>
                    <a:bodyPr/>
                    <a:lstStyle/>
                    <a:p>
                      <a:r>
                        <a:rPr lang="fr-FR" sz="1400" dirty="0" smtClean="0"/>
                        <a:t>Mobilisation des secretions bronchiques</a:t>
                      </a:r>
                      <a:endParaRPr lang="fr-FR" sz="1400" dirty="0"/>
                    </a:p>
                  </a:txBody>
                  <a:tcPr/>
                </a:tc>
                <a:tc>
                  <a:txBody>
                    <a:bodyPr/>
                    <a:lstStyle/>
                    <a:p>
                      <a:r>
                        <a:rPr lang="fr-FR" sz="1400" dirty="0" smtClean="0"/>
                        <a:t>Bronchites aigues</a:t>
                      </a:r>
                      <a:r>
                        <a:rPr lang="fr-FR" sz="1400" baseline="0" dirty="0" smtClean="0"/>
                        <a:t> &amp; chroniques, DDB…</a:t>
                      </a:r>
                      <a:endParaRPr lang="fr-FR" sz="1400" dirty="0"/>
                    </a:p>
                  </a:txBody>
                  <a:tcPr/>
                </a:tc>
              </a:tr>
              <a:tr h="534573">
                <a:tc>
                  <a:txBody>
                    <a:bodyPr/>
                    <a:lstStyle/>
                    <a:p>
                      <a:r>
                        <a:rPr lang="fr-FR" sz="1400" dirty="0" smtClean="0"/>
                        <a:t>RALES</a:t>
                      </a:r>
                      <a:r>
                        <a:rPr lang="fr-FR" sz="1400" baseline="0" dirty="0" smtClean="0"/>
                        <a:t> SIBILANTS</a:t>
                      </a:r>
                      <a:endParaRPr lang="fr-FR" sz="1400" dirty="0"/>
                    </a:p>
                  </a:txBody>
                  <a:tcPr/>
                </a:tc>
                <a:tc>
                  <a:txBody>
                    <a:bodyPr/>
                    <a:lstStyle/>
                    <a:p>
                      <a:r>
                        <a:rPr lang="fr-FR" sz="1400" dirty="0" smtClean="0"/>
                        <a:t>sifflements</a:t>
                      </a:r>
                      <a:endParaRPr lang="fr-FR" sz="1400" dirty="0"/>
                    </a:p>
                  </a:txBody>
                  <a:tcPr/>
                </a:tc>
                <a:tc>
                  <a:txBody>
                    <a:bodyPr/>
                    <a:lstStyle/>
                    <a:p>
                      <a:r>
                        <a:rPr lang="fr-FR" sz="1400" dirty="0" smtClean="0"/>
                        <a:t>Passage de l’air dans des conduits etroits</a:t>
                      </a:r>
                      <a:endParaRPr lang="fr-FR" sz="1400" dirty="0"/>
                    </a:p>
                  </a:txBody>
                  <a:tcPr/>
                </a:tc>
                <a:tc>
                  <a:txBody>
                    <a:bodyPr/>
                    <a:lstStyle/>
                    <a:p>
                      <a:r>
                        <a:rPr lang="fr-FR" sz="1400" dirty="0" smtClean="0"/>
                        <a:t>Asthme, BPCO…</a:t>
                      </a:r>
                      <a:endParaRPr lang="fr-FR" sz="1400" dirty="0"/>
                    </a:p>
                  </a:txBody>
                  <a:tcPr/>
                </a:tc>
              </a:tr>
              <a:tr h="792000">
                <a:tc rowSpan="2">
                  <a:txBody>
                    <a:bodyPr/>
                    <a:lstStyle/>
                    <a:p>
                      <a:endParaRPr lang="fr-FR" sz="1400" dirty="0" smtClean="0"/>
                    </a:p>
                    <a:p>
                      <a:endParaRPr lang="fr-FR" sz="1400" dirty="0" smtClean="0"/>
                    </a:p>
                    <a:p>
                      <a:endParaRPr lang="fr-FR" sz="1400" dirty="0" smtClean="0"/>
                    </a:p>
                    <a:p>
                      <a:r>
                        <a:rPr lang="fr-FR" sz="1400" dirty="0" smtClean="0"/>
                        <a:t>RALES CREPITANTS</a:t>
                      </a:r>
                      <a:endParaRPr lang="fr-FR" sz="1400" dirty="0"/>
                    </a:p>
                  </a:txBody>
                  <a:tcPr/>
                </a:tc>
                <a:tc rowSpan="2">
                  <a:txBody>
                    <a:bodyPr/>
                    <a:lstStyle/>
                    <a:p>
                      <a:pPr algn="ctr"/>
                      <a:endParaRPr lang="fr-FR" sz="1400" dirty="0" smtClean="0"/>
                    </a:p>
                    <a:p>
                      <a:pPr algn="ctr"/>
                      <a:endParaRPr lang="fr-FR" sz="1400" dirty="0" smtClean="0"/>
                    </a:p>
                    <a:p>
                      <a:pPr algn="ctr"/>
                      <a:endParaRPr lang="fr-FR" sz="1400" dirty="0" smtClean="0"/>
                    </a:p>
                    <a:p>
                      <a:pPr algn="ctr"/>
                      <a:r>
                        <a:rPr lang="fr-FR" sz="1400" dirty="0" smtClean="0"/>
                        <a:t>Crepitements fins, </a:t>
                      </a:r>
                      <a:endParaRPr lang="fr-FR" sz="1400" dirty="0"/>
                    </a:p>
                  </a:txBody>
                  <a:tcPr/>
                </a:tc>
                <a:tc>
                  <a:txBody>
                    <a:bodyPr/>
                    <a:lstStyle/>
                    <a:p>
                      <a:r>
                        <a:rPr lang="fr-FR" sz="1400" dirty="0" smtClean="0"/>
                        <a:t>Mobilisation de liquide</a:t>
                      </a:r>
                      <a:r>
                        <a:rPr lang="fr-FR" sz="1400" baseline="0" dirty="0" smtClean="0"/>
                        <a:t> dans les alvéoles</a:t>
                      </a:r>
                      <a:endParaRPr lang="fr-FR" sz="1400" dirty="0"/>
                    </a:p>
                  </a:txBody>
                  <a:tcPr/>
                </a:tc>
                <a:tc>
                  <a:txBody>
                    <a:bodyPr/>
                    <a:lstStyle/>
                    <a:p>
                      <a:r>
                        <a:rPr lang="fr-FR" sz="1400" dirty="0" smtClean="0">
                          <a:solidFill>
                            <a:sysClr val="windowText" lastClr="000000"/>
                          </a:solidFill>
                        </a:rPr>
                        <a:t>Pneumopathies,</a:t>
                      </a:r>
                    </a:p>
                    <a:p>
                      <a:r>
                        <a:rPr lang="fr-FR" sz="1400" dirty="0" smtClean="0">
                          <a:solidFill>
                            <a:sysClr val="windowText" lastClr="000000"/>
                          </a:solidFill>
                        </a:rPr>
                        <a:t>OAP</a:t>
                      </a:r>
                    </a:p>
                  </a:txBody>
                  <a:tcPr/>
                </a:tc>
              </a:tr>
              <a:tr h="817583">
                <a:tc vMerge="1">
                  <a:txBody>
                    <a:bodyPr/>
                    <a:lstStyle/>
                    <a:p>
                      <a:endParaRPr lang="fr-FR"/>
                    </a:p>
                  </a:txBody>
                  <a:tcPr/>
                </a:tc>
                <a:tc vMerge="1">
                  <a:txBody>
                    <a:bodyPr/>
                    <a:lstStyle/>
                    <a:p>
                      <a:endParaRPr lang="fr-FR"/>
                    </a:p>
                  </a:txBody>
                  <a:tcPr/>
                </a:tc>
                <a:tc>
                  <a:txBody>
                    <a:bodyPr/>
                    <a:lstStyle/>
                    <a:p>
                      <a:r>
                        <a:rPr lang="fr-FR" sz="1400" dirty="0" smtClean="0"/>
                        <a:t>Déplissement des alvéoles =&gt; craquement du tissus interstitiel devenu</a:t>
                      </a:r>
                      <a:r>
                        <a:rPr lang="fr-FR" sz="1400" baseline="0" dirty="0" smtClean="0"/>
                        <a:t> fibreux</a:t>
                      </a:r>
                      <a:endParaRPr lang="fr-FR" sz="1400" dirty="0"/>
                    </a:p>
                  </a:txBody>
                  <a:tcPr/>
                </a:tc>
                <a:tc>
                  <a:txBody>
                    <a:bodyPr/>
                    <a:lstStyle/>
                    <a:p>
                      <a:r>
                        <a:rPr lang="fr-FR" sz="1400" dirty="0" smtClean="0">
                          <a:solidFill>
                            <a:sysClr val="windowText" lastClr="000000"/>
                          </a:solidFill>
                        </a:rPr>
                        <a:t>Fibroses pulmonaires</a:t>
                      </a:r>
                    </a:p>
                  </a:txBody>
                  <a:tcPr/>
                </a:tc>
              </a:tr>
              <a:tr h="534573">
                <a:tc>
                  <a:txBody>
                    <a:bodyPr/>
                    <a:lstStyle/>
                    <a:p>
                      <a:r>
                        <a:rPr lang="fr-FR" sz="1400" dirty="0" smtClean="0"/>
                        <a:t>SOUFFLE TUBAIRE</a:t>
                      </a:r>
                      <a:endParaRPr lang="fr-FR" sz="1400" dirty="0"/>
                    </a:p>
                  </a:txBody>
                  <a:tcPr/>
                </a:tc>
                <a:tc>
                  <a:txBody>
                    <a:bodyPr/>
                    <a:lstStyle/>
                    <a:p>
                      <a:r>
                        <a:rPr lang="fr-FR" sz="1400" dirty="0" smtClean="0"/>
                        <a:t>  Rude, râpeux, localisé</a:t>
                      </a:r>
                      <a:endParaRPr lang="fr-FR" sz="1400" dirty="0"/>
                    </a:p>
                  </a:txBody>
                  <a:tcPr/>
                </a:tc>
                <a:tc>
                  <a:txBody>
                    <a:bodyPr/>
                    <a:lstStyle/>
                    <a:p>
                      <a:r>
                        <a:rPr lang="fr-FR" sz="1400" dirty="0" smtClean="0"/>
                        <a:t>Transmission </a:t>
                      </a:r>
                      <a:r>
                        <a:rPr lang="fr-FR" sz="1400" baseline="0" dirty="0" smtClean="0"/>
                        <a:t> des v</a:t>
                      </a:r>
                      <a:r>
                        <a:rPr lang="fr-FR" sz="1400" dirty="0" smtClean="0"/>
                        <a:t>ib. dans une condensation</a:t>
                      </a:r>
                      <a:endParaRPr lang="fr-FR" sz="1400" dirty="0"/>
                    </a:p>
                  </a:txBody>
                  <a:tcPr/>
                </a:tc>
                <a:tc>
                  <a:txBody>
                    <a:bodyPr/>
                    <a:lstStyle/>
                    <a:p>
                      <a:r>
                        <a:rPr lang="fr-FR" sz="1400" dirty="0" smtClean="0"/>
                        <a:t>Pneumopathie,</a:t>
                      </a:r>
                    </a:p>
                    <a:p>
                      <a:r>
                        <a:rPr lang="fr-FR" sz="1400" dirty="0" smtClean="0"/>
                        <a:t>Atélectasie</a:t>
                      </a:r>
                      <a:endParaRPr lang="fr-FR" sz="1400" dirty="0"/>
                    </a:p>
                  </a:txBody>
                  <a:tcPr/>
                </a:tc>
              </a:tr>
              <a:tr h="534573">
                <a:tc>
                  <a:txBody>
                    <a:bodyPr/>
                    <a:lstStyle/>
                    <a:p>
                      <a:r>
                        <a:rPr lang="fr-FR" sz="1400" dirty="0" smtClean="0"/>
                        <a:t>SOUFFLE PLEURETIQUE</a:t>
                      </a:r>
                      <a:endParaRPr lang="fr-FR" sz="1400" dirty="0"/>
                    </a:p>
                  </a:txBody>
                  <a:tcPr/>
                </a:tc>
                <a:tc>
                  <a:txBody>
                    <a:bodyPr/>
                    <a:lstStyle/>
                    <a:p>
                      <a:r>
                        <a:rPr lang="fr-FR" sz="1400" dirty="0" smtClean="0"/>
                        <a:t>  </a:t>
                      </a:r>
                      <a:r>
                        <a:rPr lang="fr-FR" sz="1400" baseline="0" dirty="0" smtClean="0"/>
                        <a:t> </a:t>
                      </a:r>
                      <a:r>
                        <a:rPr lang="fr-FR" sz="1400" dirty="0" smtClean="0"/>
                        <a:t>Doux lointain en « é »</a:t>
                      </a:r>
                      <a:endParaRPr lang="fr-FR" sz="1400" dirty="0"/>
                    </a:p>
                  </a:txBody>
                  <a:tcPr/>
                </a:tc>
                <a:tc>
                  <a:txBody>
                    <a:bodyPr/>
                    <a:lstStyle/>
                    <a:p>
                      <a:r>
                        <a:rPr lang="fr-FR" sz="1400" dirty="0" smtClean="0"/>
                        <a:t>Transmission des vib. à la surface de l’eau</a:t>
                      </a:r>
                      <a:endParaRPr lang="fr-FR" sz="1400" dirty="0"/>
                    </a:p>
                  </a:txBody>
                  <a:tcPr/>
                </a:tc>
                <a:tc>
                  <a:txBody>
                    <a:bodyPr/>
                    <a:lstStyle/>
                    <a:p>
                      <a:r>
                        <a:rPr lang="fr-FR" sz="1400" dirty="0" smtClean="0"/>
                        <a:t>Pleurésie</a:t>
                      </a:r>
                    </a:p>
                    <a:p>
                      <a:endParaRPr lang="fr-FR" sz="1400" dirty="0" smtClean="0"/>
                    </a:p>
                  </a:txBody>
                  <a:tcPr/>
                </a:tc>
              </a:tr>
              <a:tr h="534573">
                <a:tc>
                  <a:txBody>
                    <a:bodyPr/>
                    <a:lstStyle/>
                    <a:p>
                      <a:r>
                        <a:rPr lang="fr-FR" sz="1400" dirty="0" smtClean="0"/>
                        <a:t>FROTTEMENT PLEURALE</a:t>
                      </a:r>
                      <a:endParaRPr lang="fr-FR" sz="1400" dirty="0"/>
                    </a:p>
                  </a:txBody>
                  <a:tcPr/>
                </a:tc>
                <a:tc>
                  <a:txBody>
                    <a:bodyPr/>
                    <a:lstStyle/>
                    <a:p>
                      <a:r>
                        <a:rPr lang="fr-FR" sz="1400" dirty="0" smtClean="0"/>
                        <a:t>Frottement</a:t>
                      </a:r>
                      <a:r>
                        <a:rPr lang="fr-FR" sz="1400" baseline="0" dirty="0" smtClean="0"/>
                        <a:t> rythmé par la respiration</a:t>
                      </a:r>
                      <a:endParaRPr lang="fr-FR" sz="1400" dirty="0"/>
                    </a:p>
                  </a:txBody>
                  <a:tcPr/>
                </a:tc>
                <a:tc>
                  <a:txBody>
                    <a:bodyPr/>
                    <a:lstStyle/>
                    <a:p>
                      <a:r>
                        <a:rPr lang="fr-FR" sz="1400" dirty="0" smtClean="0"/>
                        <a:t>Frottement des 2 feuillets pleuraux</a:t>
                      </a:r>
                      <a:endParaRPr lang="fr-FR" sz="1400" dirty="0"/>
                    </a:p>
                  </a:txBody>
                  <a:tcPr/>
                </a:tc>
                <a:tc>
                  <a:txBody>
                    <a:bodyPr/>
                    <a:lstStyle/>
                    <a:p>
                      <a:r>
                        <a:rPr lang="fr-FR" sz="1400" dirty="0" smtClean="0"/>
                        <a:t>Pleurésie</a:t>
                      </a:r>
                      <a:endParaRPr lang="fr-FR" sz="1400" dirty="0"/>
                    </a:p>
                  </a:txBody>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2648" y="357166"/>
            <a:ext cx="8153400" cy="862034"/>
          </a:xfrm>
        </p:spPr>
        <p:txBody>
          <a:bodyPr>
            <a:normAutofit fontScale="90000"/>
          </a:bodyPr>
          <a:lstStyle/>
          <a:p>
            <a:r>
              <a:rPr lang="fr-FR" dirty="0" smtClean="0"/>
              <a:t>EXAMEN CLINIQUE </a:t>
            </a:r>
            <a:r>
              <a:rPr lang="fr-FR" sz="3100" dirty="0" smtClean="0"/>
              <a:t>(Revue des systèmes)</a:t>
            </a:r>
            <a:r>
              <a:rPr lang="fr-FR" b="1" dirty="0" smtClean="0"/>
              <a:t/>
            </a:r>
            <a:br>
              <a:rPr lang="fr-FR" b="1" dirty="0" smtClean="0"/>
            </a:br>
            <a:endParaRPr lang="fr-FR" dirty="0"/>
          </a:p>
        </p:txBody>
      </p:sp>
      <p:sp>
        <p:nvSpPr>
          <p:cNvPr id="3" name="Espace réservé du contenu 2"/>
          <p:cNvSpPr>
            <a:spLocks noGrp="1"/>
          </p:cNvSpPr>
          <p:nvPr>
            <p:ph sz="quarter" idx="1"/>
          </p:nvPr>
        </p:nvSpPr>
        <p:spPr/>
        <p:txBody>
          <a:bodyPr>
            <a:normAutofit fontScale="85000" lnSpcReduction="20000"/>
          </a:bodyPr>
          <a:lstStyle/>
          <a:p>
            <a:r>
              <a:rPr lang="fr-FR" dirty="0" smtClean="0"/>
              <a:t>Examen cardiovasculaire.</a:t>
            </a:r>
          </a:p>
          <a:p>
            <a:r>
              <a:rPr lang="fr-FR" dirty="0" smtClean="0"/>
              <a:t>Examen de l'abdomen.</a:t>
            </a:r>
          </a:p>
          <a:p>
            <a:r>
              <a:rPr lang="fr-FR" dirty="0" smtClean="0"/>
              <a:t>Examen neurologique.</a:t>
            </a:r>
          </a:p>
          <a:p>
            <a:r>
              <a:rPr lang="fr-FR" dirty="0" smtClean="0"/>
              <a:t>Examen </a:t>
            </a:r>
            <a:r>
              <a:rPr lang="fr-FR" dirty="0" err="1" smtClean="0"/>
              <a:t>ostéoarticulaire</a:t>
            </a:r>
            <a:r>
              <a:rPr lang="fr-FR" dirty="0" smtClean="0"/>
              <a:t>.</a:t>
            </a:r>
          </a:p>
          <a:p>
            <a:r>
              <a:rPr lang="fr-FR" dirty="0" smtClean="0"/>
              <a:t>Examen </a:t>
            </a:r>
            <a:r>
              <a:rPr lang="fr-FR" dirty="0" err="1" smtClean="0"/>
              <a:t>uronéphrologique</a:t>
            </a:r>
            <a:r>
              <a:rPr lang="fr-FR" dirty="0" smtClean="0"/>
              <a:t>.</a:t>
            </a:r>
          </a:p>
          <a:p>
            <a:r>
              <a:rPr lang="fr-FR" dirty="0" smtClean="0"/>
              <a:t>Examen gynécologique, seins.</a:t>
            </a:r>
          </a:p>
          <a:p>
            <a:r>
              <a:rPr lang="fr-FR" dirty="0" smtClean="0"/>
              <a:t>Examen </a:t>
            </a:r>
            <a:r>
              <a:rPr lang="fr-FR" dirty="0" err="1" smtClean="0"/>
              <a:t>cutanéo</a:t>
            </a:r>
            <a:r>
              <a:rPr lang="fr-FR" dirty="0" smtClean="0"/>
              <a:t>-muqueux et des phanères.</a:t>
            </a:r>
          </a:p>
          <a:p>
            <a:r>
              <a:rPr lang="fr-FR" dirty="0" smtClean="0"/>
              <a:t>Examen des aires ganglionnaires.</a:t>
            </a:r>
          </a:p>
          <a:p>
            <a:r>
              <a:rPr lang="fr-FR" dirty="0" smtClean="0"/>
              <a:t>Examen </a:t>
            </a:r>
            <a:r>
              <a:rPr lang="fr-FR" dirty="0" err="1" smtClean="0"/>
              <a:t>endocrinologique</a:t>
            </a:r>
            <a:r>
              <a:rPr lang="fr-FR" dirty="0" smtClean="0"/>
              <a:t>, aire thyroïdienne.</a:t>
            </a:r>
          </a:p>
          <a:p>
            <a:r>
              <a:rPr lang="fr-FR" dirty="0" smtClean="0"/>
              <a:t>Examen ophtalmologique.</a:t>
            </a:r>
          </a:p>
          <a:p>
            <a:r>
              <a:rPr lang="fr-FR" dirty="0" smtClean="0"/>
              <a:t>Examen </a:t>
            </a:r>
            <a:r>
              <a:rPr lang="fr-FR" dirty="0" err="1" smtClean="0"/>
              <a:t>otorhinolaryngé</a:t>
            </a:r>
            <a:r>
              <a:rPr lang="fr-FR" dirty="0" smtClean="0"/>
              <a:t> et </a:t>
            </a:r>
            <a:r>
              <a:rPr lang="fr-FR" dirty="0" err="1" smtClean="0"/>
              <a:t>stomatologique</a:t>
            </a:r>
            <a:r>
              <a:rPr lang="fr-FR" dirty="0" smtClean="0"/>
              <a:t>.</a:t>
            </a:r>
          </a:p>
          <a:p>
            <a:pPr>
              <a:buNone/>
            </a:pPr>
            <a:endParaRPr lang="fr-F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Exemple Examen des aires ganglionnaires </a:t>
            </a:r>
            <a:endParaRPr lang="fr-FR" dirty="0"/>
          </a:p>
        </p:txBody>
      </p:sp>
      <p:sp>
        <p:nvSpPr>
          <p:cNvPr id="3" name="Espace réservé du contenu 2"/>
          <p:cNvSpPr>
            <a:spLocks noGrp="1"/>
          </p:cNvSpPr>
          <p:nvPr>
            <p:ph sz="quarter" idx="1"/>
          </p:nvPr>
        </p:nvSpPr>
        <p:spPr/>
        <p:txBody>
          <a:bodyPr>
            <a:normAutofit fontScale="92500" lnSpcReduction="20000"/>
          </a:bodyPr>
          <a:lstStyle/>
          <a:p>
            <a:r>
              <a:rPr lang="fr-FR" dirty="0" smtClean="0"/>
              <a:t>-  Cervicales : faire asseoir le malade pour rechercher :</a:t>
            </a:r>
          </a:p>
          <a:p>
            <a:r>
              <a:rPr lang="fr-FR" dirty="0" smtClean="0"/>
              <a:t>Post </a:t>
            </a:r>
            <a:r>
              <a:rPr lang="fr-FR" dirty="0" err="1" smtClean="0"/>
              <a:t>jugulo</a:t>
            </a:r>
            <a:r>
              <a:rPr lang="fr-FR" dirty="0" smtClean="0"/>
              <a:t>-carotidiennes</a:t>
            </a:r>
          </a:p>
          <a:p>
            <a:r>
              <a:rPr lang="fr-FR" dirty="0" smtClean="0"/>
              <a:t>sous </a:t>
            </a:r>
            <a:r>
              <a:rPr lang="fr-FR" dirty="0" err="1" smtClean="0"/>
              <a:t>angulo</a:t>
            </a:r>
            <a:r>
              <a:rPr lang="fr-FR" dirty="0" smtClean="0"/>
              <a:t>-maxillaires</a:t>
            </a:r>
          </a:p>
          <a:p>
            <a:r>
              <a:rPr lang="fr-FR" dirty="0" smtClean="0"/>
              <a:t>sous mentale</a:t>
            </a:r>
          </a:p>
          <a:p>
            <a:r>
              <a:rPr lang="fr-FR" dirty="0" smtClean="0"/>
              <a:t>sus-claviculaires</a:t>
            </a:r>
          </a:p>
          <a:p>
            <a:r>
              <a:rPr lang="fr-FR" dirty="0" smtClean="0"/>
              <a:t>-  Axillaires </a:t>
            </a:r>
            <a:br>
              <a:rPr lang="fr-FR" dirty="0" smtClean="0"/>
            </a:br>
            <a:r>
              <a:rPr lang="fr-FR" dirty="0" smtClean="0"/>
              <a:t>-  </a:t>
            </a:r>
            <a:r>
              <a:rPr lang="fr-FR" dirty="0" err="1" smtClean="0"/>
              <a:t>Epitrochléennes</a:t>
            </a:r>
            <a:r>
              <a:rPr lang="fr-FR" dirty="0" smtClean="0"/>
              <a:t> </a:t>
            </a:r>
            <a:br>
              <a:rPr lang="fr-FR" dirty="0" smtClean="0"/>
            </a:br>
            <a:r>
              <a:rPr lang="fr-FR" dirty="0" smtClean="0"/>
              <a:t>-  </a:t>
            </a:r>
            <a:r>
              <a:rPr lang="fr-FR" dirty="0" err="1" smtClean="0"/>
              <a:t>Inguino</a:t>
            </a:r>
            <a:r>
              <a:rPr lang="fr-FR" dirty="0" smtClean="0"/>
              <a:t>-crurales.</a:t>
            </a:r>
          </a:p>
          <a:p>
            <a:r>
              <a:rPr lang="fr-FR" dirty="0" smtClean="0"/>
              <a:t>Il faut préciser : taille, siège, mobilité, consistance, sensibilité des ganglions et éventuellement douleur ou présence ou non des ganglions dans les autres aires.</a:t>
            </a:r>
          </a:p>
          <a:p>
            <a:endParaRPr lang="fr-F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4282" y="214290"/>
            <a:ext cx="8551766" cy="785818"/>
          </a:xfrm>
        </p:spPr>
        <p:txBody>
          <a:bodyPr>
            <a:normAutofit fontScale="90000"/>
          </a:bodyPr>
          <a:lstStyle/>
          <a:p>
            <a:r>
              <a:rPr lang="fr-FR" cap="all" dirty="0" smtClean="0"/>
              <a:t/>
            </a:r>
            <a:br>
              <a:rPr lang="fr-FR" cap="all" dirty="0" smtClean="0"/>
            </a:br>
            <a:r>
              <a:rPr lang="fr-FR" cap="all" dirty="0" smtClean="0"/>
              <a:t>COMMENT RÉDIGER UNE OBSERVATION MÉDICALE ?</a:t>
            </a:r>
            <a:br>
              <a:rPr lang="fr-FR" cap="all" dirty="0" smtClean="0"/>
            </a:br>
            <a:endParaRPr lang="fr-FR" dirty="0"/>
          </a:p>
        </p:txBody>
      </p:sp>
      <p:sp>
        <p:nvSpPr>
          <p:cNvPr id="3" name="Espace réservé du contenu 2"/>
          <p:cNvSpPr>
            <a:spLocks noGrp="1"/>
          </p:cNvSpPr>
          <p:nvPr>
            <p:ph sz="quarter" idx="1"/>
          </p:nvPr>
        </p:nvSpPr>
        <p:spPr>
          <a:xfrm>
            <a:off x="0" y="1428736"/>
            <a:ext cx="8766048" cy="5429264"/>
          </a:xfrm>
        </p:spPr>
        <p:txBody>
          <a:bodyPr>
            <a:noAutofit/>
          </a:bodyPr>
          <a:lstStyle/>
          <a:p>
            <a:r>
              <a:rPr lang="fr-FR" sz="2000" b="1" dirty="0" smtClean="0">
                <a:latin typeface="Calibri" pitchFamily="34" charset="0"/>
              </a:rPr>
              <a:t>motif d’hospitalisation :</a:t>
            </a:r>
            <a:r>
              <a:rPr lang="fr-FR" sz="2000" dirty="0" smtClean="0">
                <a:latin typeface="Calibri" pitchFamily="34" charset="0"/>
              </a:rPr>
              <a:t/>
            </a:r>
            <a:br>
              <a:rPr lang="fr-FR" sz="2000" dirty="0" smtClean="0">
                <a:latin typeface="Calibri" pitchFamily="34" charset="0"/>
              </a:rPr>
            </a:br>
            <a:r>
              <a:rPr lang="fr-FR" sz="2000" dirty="0" smtClean="0">
                <a:latin typeface="Calibri" pitchFamily="34" charset="0"/>
              </a:rPr>
              <a:t>Phrase type : Mr/ Mme X, né(e) le ../../.., âgé(e) actuellement de …, exerçant la profession de…, est hospitalisé dans le service de… le …/…/… adressé par le médecin X (préciser si médecin traitant ou spécialiste) ou le service Y… pour… (motif).</a:t>
            </a:r>
          </a:p>
          <a:p>
            <a:r>
              <a:rPr lang="fr-FR" sz="2000" b="1" dirty="0" smtClean="0">
                <a:latin typeface="Calibri" pitchFamily="34" charset="0"/>
              </a:rPr>
              <a:t>Antécédents : </a:t>
            </a:r>
            <a:r>
              <a:rPr lang="fr-FR" sz="2000" dirty="0" smtClean="0">
                <a:latin typeface="Calibri" pitchFamily="34" charset="0"/>
              </a:rPr>
              <a:t/>
            </a:r>
            <a:br>
              <a:rPr lang="fr-FR" sz="2000" dirty="0" smtClean="0">
                <a:latin typeface="Calibri" pitchFamily="34" charset="0"/>
              </a:rPr>
            </a:br>
            <a:r>
              <a:rPr lang="fr-FR" sz="2000" dirty="0" smtClean="0">
                <a:latin typeface="Calibri" pitchFamily="34" charset="0"/>
              </a:rPr>
              <a:t>Personnels : </a:t>
            </a:r>
            <a:br>
              <a:rPr lang="fr-FR" sz="2000" dirty="0" smtClean="0">
                <a:latin typeface="Calibri" pitchFamily="34" charset="0"/>
              </a:rPr>
            </a:br>
            <a:r>
              <a:rPr lang="fr-FR" sz="2000" dirty="0" smtClean="0">
                <a:latin typeface="Calibri" pitchFamily="34" charset="0"/>
              </a:rPr>
              <a:t>-  Médicaux : pathologies à énoncer avec la date et l’éventuel lieu d’hospitalisation </a:t>
            </a:r>
            <a:br>
              <a:rPr lang="fr-FR" sz="2000" dirty="0" smtClean="0">
                <a:latin typeface="Calibri" pitchFamily="34" charset="0"/>
              </a:rPr>
            </a:br>
            <a:r>
              <a:rPr lang="fr-FR" sz="2000" dirty="0" smtClean="0">
                <a:latin typeface="Calibri" pitchFamily="34" charset="0"/>
              </a:rPr>
              <a:t>-  Chirurgicaux : préciser date et lieu d’hospitalisation, nom du chirurgien. </a:t>
            </a:r>
            <a:br>
              <a:rPr lang="fr-FR" sz="2000" dirty="0" smtClean="0">
                <a:latin typeface="Calibri" pitchFamily="34" charset="0"/>
              </a:rPr>
            </a:br>
            <a:r>
              <a:rPr lang="fr-FR" sz="2000" dirty="0" smtClean="0">
                <a:latin typeface="Calibri" pitchFamily="34" charset="0"/>
              </a:rPr>
              <a:t>-  Gynécologiques : nombre d’enfant, nombre de grossesses : menées à terme, fausses couches, avortement</a:t>
            </a:r>
          </a:p>
          <a:p>
            <a:r>
              <a:rPr lang="fr-FR" sz="2000" dirty="0" smtClean="0">
                <a:latin typeface="Calibri" pitchFamily="34" charset="0"/>
              </a:rPr>
              <a:t>Familiaux :  pathologies familiales( allergie ;maladies héréditaires ……)</a:t>
            </a:r>
          </a:p>
          <a:p>
            <a:endParaRPr lang="fr-FR" sz="2000" dirty="0">
              <a:latin typeface="Calibri"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cap="all" dirty="0" smtClean="0"/>
              <a:t>COMMENT RÉDIGER UNE OBSERVATION MÉDICALE ?</a:t>
            </a:r>
            <a:endParaRPr lang="fr-FR" dirty="0"/>
          </a:p>
        </p:txBody>
      </p:sp>
      <p:sp>
        <p:nvSpPr>
          <p:cNvPr id="3" name="Espace réservé du contenu 2"/>
          <p:cNvSpPr>
            <a:spLocks noGrp="1"/>
          </p:cNvSpPr>
          <p:nvPr>
            <p:ph sz="quarter" idx="1"/>
          </p:nvPr>
        </p:nvSpPr>
        <p:spPr>
          <a:xfrm>
            <a:off x="357158" y="1600200"/>
            <a:ext cx="8408890" cy="4972072"/>
          </a:xfrm>
        </p:spPr>
        <p:txBody>
          <a:bodyPr>
            <a:normAutofit fontScale="62500" lnSpcReduction="20000"/>
          </a:bodyPr>
          <a:lstStyle/>
          <a:p>
            <a:r>
              <a:rPr lang="fr-FR" b="1" dirty="0" smtClean="0"/>
              <a:t>Mode de vie :</a:t>
            </a:r>
            <a:r>
              <a:rPr lang="fr-FR" dirty="0" smtClean="0"/>
              <a:t> </a:t>
            </a:r>
            <a:br>
              <a:rPr lang="fr-FR" dirty="0" smtClean="0"/>
            </a:br>
            <a:r>
              <a:rPr lang="fr-FR" dirty="0" smtClean="0"/>
              <a:t>-  Profession (attention, certaines personnes ont eu plusieurs professions ! ! !) </a:t>
            </a:r>
            <a:br>
              <a:rPr lang="fr-FR" dirty="0" smtClean="0"/>
            </a:br>
            <a:r>
              <a:rPr lang="fr-FR" dirty="0" smtClean="0"/>
              <a:t>-  Situation familiale </a:t>
            </a:r>
            <a:br>
              <a:rPr lang="fr-FR" dirty="0" smtClean="0"/>
            </a:br>
            <a:r>
              <a:rPr lang="fr-FR" dirty="0" smtClean="0"/>
              <a:t>-  Conditions de vie chez lui, exercice physique… </a:t>
            </a:r>
            <a:br>
              <a:rPr lang="fr-FR" dirty="0" smtClean="0"/>
            </a:br>
            <a:r>
              <a:rPr lang="fr-FR" dirty="0" smtClean="0"/>
              <a:t>-  Facteurs de risques : tabac, alcool, HTA, diabète, dyslipidémie</a:t>
            </a:r>
          </a:p>
          <a:p>
            <a:r>
              <a:rPr lang="fr-FR" b="1" dirty="0" smtClean="0"/>
              <a:t>Traitement à domicile :</a:t>
            </a:r>
            <a:r>
              <a:rPr lang="fr-FR" dirty="0" smtClean="0"/>
              <a:t> </a:t>
            </a:r>
            <a:br>
              <a:rPr lang="fr-FR" dirty="0" smtClean="0"/>
            </a:br>
            <a:r>
              <a:rPr lang="fr-FR" dirty="0" smtClean="0"/>
              <a:t>-  Médicaments et posologies (parfois de bonne surprises… le patient qui vous dit qu’il n’a aucun antécédent ou facteurs de risque, mais il prend un traitement contre l’HTA…) </a:t>
            </a:r>
            <a:br>
              <a:rPr lang="fr-FR" dirty="0" smtClean="0"/>
            </a:br>
            <a:r>
              <a:rPr lang="fr-FR" dirty="0" smtClean="0"/>
              <a:t>-  Ne jamais oublier de demander à une femme  si elle prend une contraception</a:t>
            </a:r>
          </a:p>
          <a:p>
            <a:r>
              <a:rPr lang="fr-FR" b="1" dirty="0" smtClean="0"/>
              <a:t>Histoire de la maladie :</a:t>
            </a:r>
            <a:r>
              <a:rPr lang="fr-FR" dirty="0" smtClean="0"/>
              <a:t/>
            </a:r>
            <a:br>
              <a:rPr lang="fr-FR" dirty="0" smtClean="0"/>
            </a:br>
            <a:r>
              <a:rPr lang="fr-FR" dirty="0" smtClean="0"/>
              <a:t>Résumer en termes médicaux l’histoire médicale du patient en rapport avec le motif d’hospitalisation.</a:t>
            </a:r>
          </a:p>
          <a:p>
            <a:r>
              <a:rPr lang="fr-FR" b="1" dirty="0" smtClean="0"/>
              <a:t>Examen clinique :</a:t>
            </a:r>
            <a:r>
              <a:rPr lang="fr-FR" dirty="0" smtClean="0"/>
              <a:t> </a:t>
            </a:r>
            <a:br>
              <a:rPr lang="fr-FR" dirty="0" smtClean="0"/>
            </a:br>
            <a:r>
              <a:rPr lang="fr-FR" dirty="0" smtClean="0"/>
              <a:t>Examen clinique complet appareil par appareil.</a:t>
            </a:r>
          </a:p>
          <a:p>
            <a:r>
              <a:rPr lang="fr-FR" b="1" dirty="0" smtClean="0"/>
              <a:t>Conclusion : </a:t>
            </a:r>
            <a:r>
              <a:rPr lang="fr-FR" dirty="0" smtClean="0"/>
              <a:t/>
            </a:r>
            <a:br>
              <a:rPr lang="fr-FR" dirty="0" smtClean="0"/>
            </a:br>
            <a:r>
              <a:rPr lang="fr-FR" dirty="0" smtClean="0"/>
              <a:t>Résumé syndromique. Enoncer la ou les différentes conclusions possibles et la conduite à tenir.</a:t>
            </a:r>
          </a:p>
          <a:p>
            <a:r>
              <a:rPr lang="fr-FR" b="1" dirty="0" smtClean="0"/>
              <a:t>Examens para-cliniques</a:t>
            </a:r>
            <a:r>
              <a:rPr lang="fr-FR" dirty="0" smtClean="0"/>
              <a:t> (au fur et à mesure de leur réalisation) </a:t>
            </a:r>
            <a:br>
              <a:rPr lang="fr-FR" dirty="0" smtClean="0"/>
            </a:br>
            <a:r>
              <a:rPr lang="fr-FR" dirty="0" smtClean="0"/>
              <a:t>Résultats des examens de biologies, d’imagerie …</a:t>
            </a:r>
          </a:p>
          <a:p>
            <a:endParaRPr lang="fr-F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b="1" dirty="0" smtClean="0"/>
              <a:t>CONCLURE L'OBSERVATION MÉDICALE</a:t>
            </a:r>
            <a:endParaRPr lang="fr-FR" sz="3600" b="1" dirty="0"/>
          </a:p>
        </p:txBody>
      </p:sp>
      <p:sp>
        <p:nvSpPr>
          <p:cNvPr id="3" name="Espace réservé du contenu 2"/>
          <p:cNvSpPr>
            <a:spLocks noGrp="1"/>
          </p:cNvSpPr>
          <p:nvPr>
            <p:ph sz="quarter" idx="1"/>
          </p:nvPr>
        </p:nvSpPr>
        <p:spPr/>
        <p:txBody>
          <a:bodyPr/>
          <a:lstStyle/>
          <a:p>
            <a:r>
              <a:rPr lang="fr-FR" dirty="0" smtClean="0"/>
              <a:t>La conclusion doit</a:t>
            </a:r>
            <a:r>
              <a:rPr lang="fr-FR" b="1" dirty="0" smtClean="0"/>
              <a:t> synthétiser le problème, </a:t>
            </a:r>
            <a:r>
              <a:rPr lang="fr-FR" dirty="0" smtClean="0"/>
              <a:t>à partir des données recueillies à l'interrogatoire et l'examen physique</a:t>
            </a:r>
          </a:p>
          <a:p>
            <a:r>
              <a:rPr lang="fr-FR" dirty="0" smtClean="0"/>
              <a:t>Cette phrase de synthèse est indispensable pour proposer une </a:t>
            </a:r>
            <a:r>
              <a:rPr lang="fr-FR" b="1" dirty="0" smtClean="0"/>
              <a:t>stratégie de prise en charge</a:t>
            </a:r>
          </a:p>
          <a:p>
            <a:pPr lvl="1">
              <a:buFont typeface="Wingdings" pitchFamily="2" charset="2"/>
              <a:buChar char="ü"/>
            </a:pPr>
            <a:r>
              <a:rPr lang="fr-FR" dirty="0" smtClean="0"/>
              <a:t>    Lister les problèmes et établir les priorités.</a:t>
            </a:r>
          </a:p>
          <a:p>
            <a:pPr lvl="1">
              <a:buFont typeface="Wingdings" pitchFamily="2" charset="2"/>
              <a:buChar char="ü"/>
            </a:pPr>
            <a:r>
              <a:rPr lang="fr-FR" dirty="0" smtClean="0"/>
              <a:t>   Prescrire les examens complémentaires utiles.</a:t>
            </a:r>
          </a:p>
          <a:p>
            <a:pPr lvl="1">
              <a:buFont typeface="Wingdings" pitchFamily="2" charset="2"/>
              <a:buChar char="ü"/>
            </a:pPr>
            <a:r>
              <a:rPr lang="fr-FR" dirty="0" smtClean="0"/>
              <a:t>   Mettre en place les traitements.</a:t>
            </a:r>
          </a:p>
          <a:p>
            <a:pPr lvl="1">
              <a:buFont typeface="Wingdings" pitchFamily="2" charset="2"/>
              <a:buChar char="ü"/>
            </a:pPr>
            <a:r>
              <a:rPr lang="fr-FR" dirty="0" smtClean="0"/>
              <a:t>   Organiser le suivi.</a:t>
            </a:r>
            <a:endParaRPr lang="fr-F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Examens paracliniques:</a:t>
            </a:r>
            <a:br>
              <a:rPr lang="fr-FR" dirty="0" smtClean="0"/>
            </a:br>
            <a:r>
              <a:rPr lang="fr-FR" dirty="0" smtClean="0"/>
              <a:t>La radiographie de face + profil</a:t>
            </a:r>
            <a:endParaRPr lang="fr-FR" dirty="0"/>
          </a:p>
        </p:txBody>
      </p:sp>
      <p:pic>
        <p:nvPicPr>
          <p:cNvPr id="16" name="Espace réservé du contenu 15" descr="pneumologie-radiographie-poumons-pulmonaire-thorax-normale-rJtxkA0HPj.jpg"/>
          <p:cNvPicPr>
            <a:picLocks noGrp="1" noChangeAspect="1"/>
          </p:cNvPicPr>
          <p:nvPr>
            <p:ph sz="quarter" idx="1"/>
          </p:nvPr>
        </p:nvPicPr>
        <p:blipFill>
          <a:blip r:embed="rId2" cstate="print"/>
          <a:srcRect t="14316" b="14316"/>
          <a:stretch>
            <a:fillRect/>
          </a:stretch>
        </p:blipFill>
        <p:spPr>
          <a:xfrm>
            <a:off x="179512" y="1772816"/>
            <a:ext cx="8743703" cy="4680000"/>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2648" y="285728"/>
            <a:ext cx="8153400" cy="714380"/>
          </a:xfrm>
        </p:spPr>
        <p:txBody>
          <a:bodyPr>
            <a:normAutofit fontScale="90000"/>
          </a:bodyPr>
          <a:lstStyle/>
          <a:p>
            <a:endParaRPr lang="fr-FR" dirty="0"/>
          </a:p>
        </p:txBody>
      </p:sp>
      <p:pic>
        <p:nvPicPr>
          <p:cNvPr id="1026" name="Picture 2"/>
          <p:cNvPicPr>
            <a:picLocks noGrp="1" noChangeAspect="1" noChangeArrowheads="1"/>
          </p:cNvPicPr>
          <p:nvPr>
            <p:ph sz="quarter" idx="1"/>
          </p:nvPr>
        </p:nvPicPr>
        <p:blipFill>
          <a:blip r:embed="rId2"/>
          <a:srcRect b="18750"/>
          <a:stretch>
            <a:fillRect/>
          </a:stretch>
        </p:blipFill>
        <p:spPr bwMode="auto">
          <a:xfrm>
            <a:off x="454269" y="1714488"/>
            <a:ext cx="8189697" cy="42148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2050" name="Picture 2"/>
          <p:cNvPicPr>
            <a:picLocks noGrp="1" noChangeAspect="1" noChangeArrowheads="1"/>
          </p:cNvPicPr>
          <p:nvPr>
            <p:ph sz="quarter" idx="1"/>
          </p:nvPr>
        </p:nvPicPr>
        <p:blipFill>
          <a:blip r:embed="rId3"/>
          <a:srcRect t="6146" b="78049"/>
          <a:stretch>
            <a:fillRect/>
          </a:stretch>
        </p:blipFill>
        <p:spPr bwMode="auto">
          <a:xfrm>
            <a:off x="500034" y="1857364"/>
            <a:ext cx="8429684" cy="1285884"/>
          </a:xfrm>
          <a:prstGeom prst="rect">
            <a:avLst/>
          </a:prstGeom>
          <a:noFill/>
          <a:ln w="9525">
            <a:noFill/>
            <a:miter lim="800000"/>
            <a:headEnd/>
            <a:tailEnd/>
          </a:ln>
          <a:effectLst/>
        </p:spPr>
      </p:pic>
      <p:pic>
        <p:nvPicPr>
          <p:cNvPr id="4" name="Picture 2"/>
          <p:cNvPicPr>
            <a:picLocks noChangeAspect="1" noChangeArrowheads="1"/>
          </p:cNvPicPr>
          <p:nvPr/>
        </p:nvPicPr>
        <p:blipFill>
          <a:blip r:embed="rId3"/>
          <a:srcRect t="17073" b="51220"/>
          <a:stretch>
            <a:fillRect/>
          </a:stretch>
        </p:blipFill>
        <p:spPr bwMode="auto">
          <a:xfrm>
            <a:off x="571472" y="3929066"/>
            <a:ext cx="7715304" cy="150019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pic>
        <p:nvPicPr>
          <p:cNvPr id="3074" name="Picture 2"/>
          <p:cNvPicPr>
            <a:picLocks noGrp="1" noChangeAspect="1" noChangeArrowheads="1"/>
          </p:cNvPicPr>
          <p:nvPr>
            <p:ph sz="quarter" idx="1"/>
          </p:nvPr>
        </p:nvPicPr>
        <p:blipFill>
          <a:blip r:embed="rId2"/>
          <a:srcRect/>
          <a:stretch>
            <a:fillRect/>
          </a:stretch>
        </p:blipFill>
        <p:spPr bwMode="auto">
          <a:xfrm>
            <a:off x="428596" y="2000240"/>
            <a:ext cx="7695475" cy="35528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4098" name="Picture 2"/>
          <p:cNvPicPr>
            <a:picLocks noGrp="1" noChangeAspect="1" noChangeArrowheads="1"/>
          </p:cNvPicPr>
          <p:nvPr>
            <p:ph sz="quarter" idx="1"/>
          </p:nvPr>
        </p:nvPicPr>
        <p:blipFill>
          <a:blip r:embed="rId2"/>
          <a:srcRect t="21818"/>
          <a:stretch>
            <a:fillRect/>
          </a:stretch>
        </p:blipFill>
        <p:spPr bwMode="auto">
          <a:xfrm>
            <a:off x="857224" y="2428868"/>
            <a:ext cx="6673252" cy="3071834"/>
          </a:xfrm>
          <a:prstGeom prst="rect">
            <a:avLst/>
          </a:prstGeom>
          <a:noFill/>
          <a:ln w="9525">
            <a:solidFill>
              <a:schemeClr val="tx1"/>
            </a:solid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sz="quarter" idx="1"/>
          </p:nvPr>
        </p:nvPicPr>
        <p:blipFill>
          <a:blip r:embed="rId2"/>
          <a:srcRect/>
          <a:stretch>
            <a:fillRect/>
          </a:stretch>
        </p:blipFill>
        <p:spPr bwMode="auto">
          <a:xfrm>
            <a:off x="385212" y="428604"/>
            <a:ext cx="8401629" cy="61436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sz="quarter" idx="1"/>
          </p:nvPr>
        </p:nvPicPr>
        <p:blipFill>
          <a:blip r:embed="rId2"/>
          <a:srcRect b="25397"/>
          <a:stretch>
            <a:fillRect/>
          </a:stretch>
        </p:blipFill>
        <p:spPr bwMode="auto">
          <a:xfrm>
            <a:off x="238574" y="1928802"/>
            <a:ext cx="8762582" cy="4429156"/>
          </a:xfrm>
          <a:prstGeom prst="rect">
            <a:avLst/>
          </a:prstGeom>
          <a:noFill/>
          <a:ln w="9525">
            <a:solidFill>
              <a:schemeClr val="tx1"/>
            </a:solid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sz="quarter" idx="1"/>
          </p:nvPr>
        </p:nvPicPr>
        <p:blipFill>
          <a:blip r:embed="rId2"/>
          <a:srcRect t="73016" r="3261" b="4762"/>
          <a:stretch>
            <a:fillRect/>
          </a:stretch>
        </p:blipFill>
        <p:spPr bwMode="auto">
          <a:xfrm>
            <a:off x="381088" y="2643182"/>
            <a:ext cx="8477192" cy="1928826"/>
          </a:xfrm>
          <a:prstGeom prst="rect">
            <a:avLst/>
          </a:prstGeom>
          <a:noFill/>
          <a:ln w="9525">
            <a:solidFill>
              <a:schemeClr val="tx1"/>
            </a:solid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édian">
  <a:themeElements>
    <a:clrScheme name="Fonderie">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Mé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é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1239</TotalTime>
  <Words>1420</Words>
  <Application>Microsoft Office PowerPoint</Application>
  <PresentationFormat>Affichage à l'écran (4:3)</PresentationFormat>
  <Paragraphs>285</Paragraphs>
  <Slides>48</Slides>
  <Notes>13</Notes>
  <HiddenSlides>0</HiddenSlides>
  <MMClips>0</MMClips>
  <ScaleCrop>false</ScaleCrop>
  <HeadingPairs>
    <vt:vector size="4" baseType="variant">
      <vt:variant>
        <vt:lpstr>Thème</vt:lpstr>
      </vt:variant>
      <vt:variant>
        <vt:i4>1</vt:i4>
      </vt:variant>
      <vt:variant>
        <vt:lpstr>Titres des diapositives</vt:lpstr>
      </vt:variant>
      <vt:variant>
        <vt:i4>48</vt:i4>
      </vt:variant>
    </vt:vector>
  </HeadingPairs>
  <TitlesOfParts>
    <vt:vector size="49" baseType="lpstr">
      <vt:lpstr>Médian</vt:lpstr>
      <vt:lpstr> OBSERVATION MEDICALE EN PNEUMOLOGIE </vt:lpstr>
      <vt:lpstr>Objectifs spécifiques </vt:lpstr>
      <vt:lpstr>AVANT L’INTERROGATOIRE</vt:lpstr>
      <vt:lpstr>Diapositive 4</vt:lpstr>
      <vt:lpstr>Attention ! </vt:lpstr>
      <vt:lpstr>INTERROGATOIRE</vt:lpstr>
      <vt:lpstr>INTERROGATOIRE</vt:lpstr>
      <vt:lpstr>         INTERROGATOIRE</vt:lpstr>
      <vt:lpstr>INTERROGATOIRE</vt:lpstr>
      <vt:lpstr>INTERROGATOIRE</vt:lpstr>
      <vt:lpstr>Habitude et mode de vie +++ </vt:lpstr>
      <vt:lpstr>INTERROGATOIRE (Histoire de la maladie)</vt:lpstr>
      <vt:lpstr>INTERROGATOIRE (Détailler les signes fonctionnels respiratoires)</vt:lpstr>
      <vt:lpstr>INTERROGATOIRE (points forts)</vt:lpstr>
      <vt:lpstr> EXAMEN CLINIQUE =Examen physique</vt:lpstr>
      <vt:lpstr>EXAMEN CLINIQUE: Inspection</vt:lpstr>
      <vt:lpstr>EXAMEN CLINIQUE: Inspection</vt:lpstr>
      <vt:lpstr>Diapositive 18</vt:lpstr>
      <vt:lpstr>Thorax en entonnoir</vt:lpstr>
      <vt:lpstr> Thorax en carène</vt:lpstr>
      <vt:lpstr>Diapositive 21</vt:lpstr>
      <vt:lpstr>Diapositive 22</vt:lpstr>
      <vt:lpstr>Diapositive 23</vt:lpstr>
      <vt:lpstr>Diapositive 24</vt:lpstr>
      <vt:lpstr>Diapositive 25</vt:lpstr>
      <vt:lpstr>Diapositive 26</vt:lpstr>
      <vt:lpstr>Diapositive 27</vt:lpstr>
      <vt:lpstr>Diapositive 28</vt:lpstr>
      <vt:lpstr>Diapositive 29</vt:lpstr>
      <vt:lpstr>EXAMEN CLINIQUE: APPAREIL RESPIRATOIRE  Palpation/Percussion</vt:lpstr>
      <vt:lpstr>Diapositive 31</vt:lpstr>
      <vt:lpstr>Diapositive 32</vt:lpstr>
      <vt:lpstr>EXAMEN CLINIQUE Auscultation ( 1 )</vt:lpstr>
      <vt:lpstr>Diapositive 34</vt:lpstr>
      <vt:lpstr>EXAMEN CLINIQUE: Auscultation ( 2 ): les bruits surajoutés</vt:lpstr>
      <vt:lpstr>EXAMEN CLINIQUE (Revue des systèmes) </vt:lpstr>
      <vt:lpstr>Exemple Examen des aires ganglionnaires </vt:lpstr>
      <vt:lpstr> COMMENT RÉDIGER UNE OBSERVATION MÉDICALE ? </vt:lpstr>
      <vt:lpstr>COMMENT RÉDIGER UNE OBSERVATION MÉDICALE ?</vt:lpstr>
      <vt:lpstr>CONCLURE L'OBSERVATION MÉDICALE</vt:lpstr>
      <vt:lpstr>Examens paracliniques: La radiographie de face + profil</vt:lpstr>
      <vt:lpstr>Diapositive 42</vt:lpstr>
      <vt:lpstr>Diapositive 43</vt:lpstr>
      <vt:lpstr>Diapositive 44</vt:lpstr>
      <vt:lpstr>Diapositive 45</vt:lpstr>
      <vt:lpstr>Diapositive 46</vt:lpstr>
      <vt:lpstr>Diapositive 47</vt:lpstr>
      <vt:lpstr>Diapositive 48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PNEUMOLOGIE:</dc:title>
  <dc:creator>Utilisateur</dc:creator>
  <cp:lastModifiedBy>user</cp:lastModifiedBy>
  <cp:revision>128</cp:revision>
  <dcterms:created xsi:type="dcterms:W3CDTF">2010-11-15T15:05:23Z</dcterms:created>
  <dcterms:modified xsi:type="dcterms:W3CDTF">2020-09-23T09:42:22Z</dcterms:modified>
</cp:coreProperties>
</file>