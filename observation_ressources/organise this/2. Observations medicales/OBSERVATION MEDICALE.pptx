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7" r:id="rId17"/>
    <p:sldId id="271" r:id="rId18"/>
    <p:sldId id="272" r:id="rId19"/>
    <p:sldId id="278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4" autoAdjust="0"/>
    <p:restoredTop sz="94473" autoAdjust="0"/>
  </p:normalViewPr>
  <p:slideViewPr>
    <p:cSldViewPr>
      <p:cViewPr varScale="1">
        <p:scale>
          <a:sx n="65" d="100"/>
          <a:sy n="65" d="100"/>
        </p:scale>
        <p:origin x="-1292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622D0DF-B723-4C52-B8F1-4B9B244CF3DE}" type="datetimeFigureOut">
              <a:rPr lang="fr-FR" smtClean="0"/>
              <a:t>19/09/2021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EEC07A70-811F-427B-BC09-D819B66FC908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OBSERVATION MEDICALE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6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/>
          <a:lstStyle/>
          <a:p>
            <a:r>
              <a:rPr lang="fr-FR" b="1" dirty="0"/>
              <a:t>IDENTITE 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1800200"/>
          </a:xfrm>
        </p:spPr>
        <p:txBody>
          <a:bodyPr/>
          <a:lstStyle/>
          <a:p>
            <a:r>
              <a:rPr lang="fr-FR" dirty="0"/>
              <a:t>Il s’agit de Monsieur/madame _________, âgé(e) de ____ ans, originaire et habitant à ____. Marié, ayant __ enfants. _____de  profession,  couverture sociale : ______ . 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643786" y="3429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500" b="1" cap="all" dirty="0">
                <a:solidFill>
                  <a:schemeClr val="accent1">
                    <a:lumMod val="75000"/>
                  </a:schemeClr>
                </a:solidFill>
              </a:rPr>
              <a:t>MOTIF D’HOSPITALISATION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68472" y="4788024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fr-FR" sz="2400" dirty="0">
                <a:solidFill>
                  <a:schemeClr val="tx2"/>
                </a:solidFill>
              </a:rPr>
              <a:t>Plainte principale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079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ANTECEDENTS PERSONNELS </a:t>
            </a:r>
            <a:r>
              <a:rPr lang="fr-FR" b="1" dirty="0" smtClean="0"/>
              <a:t>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FR" sz="4400" u="sng" dirty="0"/>
              <a:t>A/ Médicaux </a:t>
            </a:r>
            <a:endParaRPr lang="fr-FR" sz="4400" dirty="0"/>
          </a:p>
          <a:p>
            <a:pPr lvl="0">
              <a:lnSpc>
                <a:spcPct val="120000"/>
              </a:lnSpc>
            </a:pPr>
            <a:r>
              <a:rPr lang="fr-FR" dirty="0"/>
              <a:t>FDR </a:t>
            </a:r>
            <a:r>
              <a:rPr lang="fr-FR" dirty="0" err="1"/>
              <a:t>CVx</a:t>
            </a:r>
            <a:endParaRPr lang="fr-FR" dirty="0"/>
          </a:p>
          <a:p>
            <a:pPr lvl="1">
              <a:lnSpc>
                <a:spcPct val="120000"/>
              </a:lnSpc>
            </a:pPr>
            <a:r>
              <a:rPr lang="fr-FR" dirty="0"/>
              <a:t>HTA  </a:t>
            </a:r>
            <a:r>
              <a:rPr lang="fr-FR" dirty="0" smtClean="0"/>
              <a:t> Diabète</a:t>
            </a:r>
            <a:r>
              <a:rPr lang="fr-FR" dirty="0"/>
              <a:t>  </a:t>
            </a:r>
            <a:r>
              <a:rPr lang="fr-FR" dirty="0" smtClean="0"/>
              <a:t>Dyslipidémie</a:t>
            </a:r>
            <a:r>
              <a:rPr lang="fr-FR" dirty="0"/>
              <a:t>  </a:t>
            </a:r>
            <a:r>
              <a:rPr lang="fr-FR" dirty="0" smtClean="0"/>
              <a:t>Cardiopathie</a:t>
            </a:r>
            <a:r>
              <a:rPr lang="fr-FR" dirty="0"/>
              <a:t> </a:t>
            </a:r>
            <a:r>
              <a:rPr lang="fr-FR" dirty="0" smtClean="0"/>
              <a:t>?</a:t>
            </a:r>
            <a:endParaRPr lang="fr-FR" dirty="0"/>
          </a:p>
          <a:p>
            <a:pPr lvl="0">
              <a:lnSpc>
                <a:spcPct val="120000"/>
              </a:lnSpc>
            </a:pPr>
            <a:r>
              <a:rPr lang="fr-FR" dirty="0"/>
              <a:t>Habitudes toxiques : Tabac, </a:t>
            </a:r>
            <a:r>
              <a:rPr lang="fr-FR" dirty="0" smtClean="0"/>
              <a:t>alcool?</a:t>
            </a:r>
            <a:endParaRPr lang="fr-FR" dirty="0"/>
          </a:p>
          <a:p>
            <a:pPr lvl="0">
              <a:lnSpc>
                <a:spcPct val="120000"/>
              </a:lnSpc>
            </a:pPr>
            <a:r>
              <a:rPr lang="fr-FR" dirty="0"/>
              <a:t>ATCD Traumatiques </a:t>
            </a:r>
          </a:p>
          <a:p>
            <a:pPr lvl="0">
              <a:lnSpc>
                <a:spcPct val="120000"/>
              </a:lnSpc>
            </a:pPr>
            <a:r>
              <a:rPr lang="fr-FR" dirty="0"/>
              <a:t>ATCD infectieux : 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Contage tuberculeux récent 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Notion d’épidémie/ cas similaires dans la famille </a:t>
            </a:r>
          </a:p>
          <a:p>
            <a:pPr lvl="1">
              <a:lnSpc>
                <a:spcPct val="120000"/>
              </a:lnSpc>
            </a:pPr>
            <a:r>
              <a:rPr lang="fr-FR" dirty="0"/>
              <a:t>Notion de voyage récent dans une zone d’endémie palustre / pays tropical</a:t>
            </a:r>
          </a:p>
          <a:p>
            <a:pPr lvl="0">
              <a:lnSpc>
                <a:spcPct val="120000"/>
              </a:lnSpc>
            </a:pPr>
            <a:r>
              <a:rPr lang="fr-FR" dirty="0"/>
              <a:t>ATCD oncologiques  </a:t>
            </a:r>
          </a:p>
          <a:p>
            <a:pPr lvl="0">
              <a:lnSpc>
                <a:spcPct val="120000"/>
              </a:lnSpc>
            </a:pPr>
            <a:r>
              <a:rPr lang="fr-FR" dirty="0"/>
              <a:t>Allergies médicamenteuses </a:t>
            </a:r>
          </a:p>
          <a:p>
            <a:pPr lvl="0">
              <a:lnSpc>
                <a:spcPct val="120000"/>
              </a:lnSpc>
            </a:pPr>
            <a:r>
              <a:rPr lang="fr-FR" dirty="0"/>
              <a:t>Episodes similaires dans le passé. </a:t>
            </a:r>
            <a:endParaRPr lang="fr-FR" dirty="0" smtClean="0"/>
          </a:p>
          <a:p>
            <a:pPr marL="114300" lvl="0" indent="0">
              <a:lnSpc>
                <a:spcPct val="120000"/>
              </a:lnSpc>
              <a:buNone/>
            </a:pPr>
            <a:endParaRPr lang="fr-FR" dirty="0"/>
          </a:p>
          <a:p>
            <a:pPr marL="0" indent="0">
              <a:buNone/>
            </a:pPr>
            <a:r>
              <a:rPr lang="fr-FR" sz="4500" u="sng" dirty="0"/>
              <a:t>B/ Antécédents chirurgicaux</a:t>
            </a:r>
            <a:r>
              <a:rPr lang="fr-FR" u="sng" dirty="0"/>
              <a:t> 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135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ANTECEDENTS FAMILIAUX :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2996952"/>
            <a:ext cx="8229600" cy="2036440"/>
          </a:xfrm>
        </p:spPr>
        <p:txBody>
          <a:bodyPr/>
          <a:lstStyle/>
          <a:p>
            <a:r>
              <a:rPr lang="fr-FR" dirty="0" smtClean="0"/>
              <a:t>Cardiopathie dans la famille?</a:t>
            </a:r>
          </a:p>
          <a:p>
            <a:r>
              <a:rPr lang="fr-FR" dirty="0" smtClean="0"/>
              <a:t>Consanguinité</a:t>
            </a:r>
          </a:p>
          <a:p>
            <a:r>
              <a:rPr lang="fr-FR" dirty="0" smtClean="0"/>
              <a:t>Cas similaire?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169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HISTOIRE DE LA MALADIE 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2204864"/>
            <a:ext cx="8579296" cy="2404864"/>
          </a:xfrm>
        </p:spPr>
        <p:txBody>
          <a:bodyPr>
            <a:normAutofit/>
          </a:bodyPr>
          <a:lstStyle/>
          <a:p>
            <a:r>
              <a:rPr lang="fr-FR" sz="2400" dirty="0"/>
              <a:t>Le début de la symptomatologie remonte a ___________ par </a:t>
            </a:r>
            <a:r>
              <a:rPr lang="fr-FR" sz="2400" dirty="0" smtClean="0"/>
              <a:t>l’installation brutale/subaiguë/progressive de_____________ (</a:t>
            </a:r>
            <a:r>
              <a:rPr lang="fr-FR" sz="2400" dirty="0"/>
              <a:t>signe </a:t>
            </a:r>
            <a:r>
              <a:rPr lang="fr-FR" sz="2400" dirty="0" smtClean="0"/>
              <a:t>clinique principal) _____________________ ayant </a:t>
            </a:r>
            <a:r>
              <a:rPr lang="fr-FR" sz="2400" dirty="0"/>
              <a:t>motivé la consultation (en urgence/en ambulatoire ?).</a:t>
            </a:r>
          </a:p>
        </p:txBody>
      </p:sp>
    </p:spTree>
    <p:extLst>
      <p:ext uri="{BB962C8B-B14F-4D97-AF65-F5344CB8AC3E}">
        <p14:creationId xmlns:p14="http://schemas.microsoft.com/office/powerpoint/2010/main" val="207890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EXAMEN  CLINIQUE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u="sng" dirty="0"/>
              <a:t>État général </a:t>
            </a:r>
            <a:r>
              <a:rPr lang="fr-FR" dirty="0"/>
              <a:t>: </a:t>
            </a: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r>
              <a:rPr lang="fr-FR" sz="2400" dirty="0"/>
              <a:t>Patient conscient/inconscient, orienté/désorienté dans le temps et dans l’espace. </a:t>
            </a:r>
          </a:p>
          <a:p>
            <a:r>
              <a:rPr lang="fr-FR" sz="2400" dirty="0"/>
              <a:t>Constantes : </a:t>
            </a:r>
            <a:endParaRPr lang="fr-FR" sz="2400" dirty="0" smtClean="0"/>
          </a:p>
          <a:p>
            <a:pPr lvl="1"/>
            <a:r>
              <a:rPr lang="fr-FR" sz="2000" dirty="0" smtClean="0"/>
              <a:t>Température</a:t>
            </a:r>
            <a:r>
              <a:rPr lang="fr-FR" sz="2000" dirty="0"/>
              <a:t> : 37°, FC :___ </a:t>
            </a:r>
            <a:r>
              <a:rPr lang="fr-FR" sz="2000" dirty="0" err="1"/>
              <a:t>bpm</a:t>
            </a:r>
            <a:r>
              <a:rPr lang="fr-FR" sz="2000" dirty="0"/>
              <a:t>. TA : ___/___ </a:t>
            </a:r>
            <a:r>
              <a:rPr lang="fr-FR" sz="2000" dirty="0" err="1"/>
              <a:t>mmHg</a:t>
            </a:r>
            <a:r>
              <a:rPr lang="fr-FR" sz="2000" dirty="0"/>
              <a:t>.  SaO2 : ___%. </a:t>
            </a:r>
          </a:p>
          <a:p>
            <a:r>
              <a:rPr lang="fr-FR" sz="2400" dirty="0"/>
              <a:t>Etat des conjonctives, des œdèmes des membres inférieurs ?, pli de déshydratation 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96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EXAMEN ABDOMINAL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52600"/>
            <a:ext cx="5842992" cy="4373563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fr-FR" dirty="0"/>
              <a:t> </a:t>
            </a:r>
            <a:r>
              <a:rPr lang="fr-FR" b="1" u="sng" dirty="0"/>
              <a:t>A l’Inspection : </a:t>
            </a:r>
            <a:endParaRPr lang="fr-FR" b="1" u="sng" dirty="0" smtClean="0"/>
          </a:p>
          <a:p>
            <a:pPr lvl="1"/>
            <a:r>
              <a:rPr lang="fr-FR" dirty="0" smtClean="0"/>
              <a:t>Abdomen </a:t>
            </a:r>
            <a:r>
              <a:rPr lang="fr-FR" dirty="0" smtClean="0"/>
              <a:t>symétrique</a:t>
            </a:r>
            <a:r>
              <a:rPr lang="fr-FR" dirty="0"/>
              <a:t>?</a:t>
            </a:r>
            <a:endParaRPr lang="fr-FR" dirty="0" smtClean="0"/>
          </a:p>
          <a:p>
            <a:pPr lvl="1"/>
            <a:r>
              <a:rPr lang="fr-FR" dirty="0"/>
              <a:t>D</a:t>
            </a:r>
            <a:r>
              <a:rPr lang="fr-FR" dirty="0" smtClean="0"/>
              <a:t>istension abdominale</a:t>
            </a:r>
            <a:r>
              <a:rPr lang="fr-FR" dirty="0"/>
              <a:t>?</a:t>
            </a:r>
            <a:endParaRPr lang="fr-FR" dirty="0" smtClean="0"/>
          </a:p>
          <a:p>
            <a:pPr lvl="1"/>
            <a:r>
              <a:rPr lang="fr-FR" dirty="0" smtClean="0"/>
              <a:t>Ombilic </a:t>
            </a:r>
            <a:r>
              <a:rPr lang="fr-FR" dirty="0"/>
              <a:t>bien </a:t>
            </a:r>
            <a:r>
              <a:rPr lang="fr-FR" dirty="0" smtClean="0"/>
              <a:t>plissé</a:t>
            </a:r>
            <a:r>
              <a:rPr lang="fr-FR" dirty="0"/>
              <a:t>?</a:t>
            </a:r>
            <a:endParaRPr lang="fr-FR" dirty="0" smtClean="0"/>
          </a:p>
          <a:p>
            <a:pPr lvl="1"/>
            <a:r>
              <a:rPr lang="fr-FR" dirty="0" smtClean="0"/>
              <a:t>Pas </a:t>
            </a:r>
            <a:r>
              <a:rPr lang="fr-FR" dirty="0"/>
              <a:t>de lésions cutanées ni de cicatrices. </a:t>
            </a:r>
          </a:p>
          <a:p>
            <a:pPr lvl="0"/>
            <a:r>
              <a:rPr lang="fr-FR" b="1" u="sng" dirty="0"/>
              <a:t>A la Palpation : </a:t>
            </a:r>
            <a:endParaRPr lang="fr-FR" b="1" u="sng" dirty="0" smtClean="0"/>
          </a:p>
          <a:p>
            <a:pPr lvl="1"/>
            <a:r>
              <a:rPr lang="fr-FR" dirty="0" smtClean="0"/>
              <a:t>Abdomen </a:t>
            </a:r>
            <a:r>
              <a:rPr lang="fr-FR" dirty="0"/>
              <a:t>souple. Pas de contracture ni de défense abdominale. Pas de masses ni de voussures. </a:t>
            </a:r>
            <a:endParaRPr lang="fr-FR" dirty="0" smtClean="0"/>
          </a:p>
          <a:p>
            <a:pPr lvl="1"/>
            <a:r>
              <a:rPr lang="fr-FR" dirty="0" smtClean="0"/>
              <a:t>Orifices herniaires libres.</a:t>
            </a:r>
            <a:endParaRPr lang="fr-FR" dirty="0"/>
          </a:p>
          <a:p>
            <a:pPr lvl="0"/>
            <a:r>
              <a:rPr lang="fr-FR" b="1" u="sng" dirty="0"/>
              <a:t>A La percussion : </a:t>
            </a:r>
            <a:endParaRPr lang="fr-FR" b="1" u="sng" dirty="0" smtClean="0"/>
          </a:p>
          <a:p>
            <a:pPr lvl="1"/>
            <a:r>
              <a:rPr lang="fr-FR" dirty="0" smtClean="0"/>
              <a:t>Sonorité </a:t>
            </a:r>
            <a:r>
              <a:rPr lang="fr-FR" dirty="0"/>
              <a:t>normale (pas de matité)</a:t>
            </a:r>
          </a:p>
          <a:p>
            <a:pPr lvl="0"/>
            <a:r>
              <a:rPr lang="fr-FR" b="1" u="sng" dirty="0"/>
              <a:t>A l’auscultation : </a:t>
            </a:r>
            <a:endParaRPr lang="fr-FR" b="1" u="sng" dirty="0" smtClean="0"/>
          </a:p>
          <a:p>
            <a:pPr lvl="1"/>
            <a:r>
              <a:rPr lang="fr-FR" dirty="0" smtClean="0"/>
              <a:t>bruits </a:t>
            </a:r>
            <a:r>
              <a:rPr lang="fr-FR" dirty="0"/>
              <a:t>hydro-aériques sont perçus. </a:t>
            </a:r>
            <a:endParaRPr lang="fr-FR" dirty="0" smtClean="0"/>
          </a:p>
          <a:p>
            <a:pPr lvl="1"/>
            <a:r>
              <a:rPr lang="fr-FR" dirty="0" smtClean="0"/>
              <a:t>Pouls </a:t>
            </a:r>
            <a:r>
              <a:rPr lang="fr-FR" dirty="0"/>
              <a:t>de l’aorte abdominal perçu. 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1" r="10434"/>
          <a:stretch/>
        </p:blipFill>
        <p:spPr>
          <a:xfrm>
            <a:off x="6201949" y="2348880"/>
            <a:ext cx="274320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6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EXAMEN CARDIO-VASCULAIRE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FC= ___ </a:t>
            </a:r>
            <a:r>
              <a:rPr lang="fr-FR" dirty="0" err="1"/>
              <a:t>bpm</a:t>
            </a:r>
            <a:r>
              <a:rPr lang="fr-FR" dirty="0"/>
              <a:t>. TA= ___/___ </a:t>
            </a:r>
            <a:r>
              <a:rPr lang="fr-FR" dirty="0" err="1"/>
              <a:t>mmHg</a:t>
            </a:r>
            <a:r>
              <a:rPr lang="fr-FR" dirty="0"/>
              <a:t> </a:t>
            </a:r>
          </a:p>
          <a:p>
            <a:pPr lvl="0"/>
            <a:r>
              <a:rPr lang="fr-FR" u="sng" dirty="0"/>
              <a:t>Inspection </a:t>
            </a:r>
            <a:r>
              <a:rPr lang="fr-FR" dirty="0"/>
              <a:t>: </a:t>
            </a:r>
            <a:endParaRPr lang="fr-FR" dirty="0" smtClean="0"/>
          </a:p>
          <a:p>
            <a:pPr lvl="1"/>
            <a:r>
              <a:rPr lang="fr-FR" dirty="0" smtClean="0"/>
              <a:t>Absence </a:t>
            </a:r>
            <a:r>
              <a:rPr lang="fr-FR" dirty="0"/>
              <a:t>de cicatrices. </a:t>
            </a:r>
            <a:endParaRPr lang="fr-FR" dirty="0" smtClean="0"/>
          </a:p>
          <a:p>
            <a:pPr lvl="1"/>
            <a:r>
              <a:rPr lang="fr-FR" dirty="0" smtClean="0"/>
              <a:t>Pas </a:t>
            </a:r>
            <a:r>
              <a:rPr lang="fr-FR" dirty="0"/>
              <a:t>de circulation collatérale</a:t>
            </a:r>
            <a:r>
              <a:rPr lang="fr-FR" dirty="0" smtClean="0"/>
              <a:t>.</a:t>
            </a:r>
          </a:p>
          <a:p>
            <a:pPr lvl="1"/>
            <a:r>
              <a:rPr lang="fr-FR" dirty="0" smtClean="0"/>
              <a:t>Pas </a:t>
            </a:r>
            <a:r>
              <a:rPr lang="fr-FR" dirty="0"/>
              <a:t>d’angiomes stellaires. </a:t>
            </a:r>
            <a:endParaRPr lang="fr-FR" dirty="0" smtClean="0"/>
          </a:p>
          <a:p>
            <a:pPr lvl="1"/>
            <a:r>
              <a:rPr lang="fr-FR" dirty="0" smtClean="0"/>
              <a:t>Pas </a:t>
            </a:r>
            <a:r>
              <a:rPr lang="fr-FR" dirty="0"/>
              <a:t>de turgescence des veines jugulaires. </a:t>
            </a:r>
          </a:p>
          <a:p>
            <a:pPr lvl="0"/>
            <a:r>
              <a:rPr lang="fr-FR" u="sng" dirty="0"/>
              <a:t>Palpation </a:t>
            </a:r>
            <a:r>
              <a:rPr lang="fr-FR" dirty="0"/>
              <a:t>: </a:t>
            </a:r>
            <a:endParaRPr lang="fr-FR" dirty="0" smtClean="0"/>
          </a:p>
          <a:p>
            <a:pPr lvl="1"/>
            <a:r>
              <a:rPr lang="fr-FR" dirty="0" smtClean="0"/>
              <a:t>choc </a:t>
            </a:r>
            <a:r>
              <a:rPr lang="fr-FR" dirty="0"/>
              <a:t>de pointe </a:t>
            </a:r>
            <a:r>
              <a:rPr lang="fr-FR" dirty="0" smtClean="0"/>
              <a:t>perçu.</a:t>
            </a:r>
          </a:p>
          <a:p>
            <a:pPr lvl="1"/>
            <a:r>
              <a:rPr lang="fr-FR" dirty="0" smtClean="0"/>
              <a:t>Absence </a:t>
            </a:r>
            <a:r>
              <a:rPr lang="fr-FR" dirty="0"/>
              <a:t>de reflux hépato-jugulaire. </a:t>
            </a:r>
            <a:endParaRPr lang="fr-FR" dirty="0" smtClean="0"/>
          </a:p>
          <a:p>
            <a:pPr lvl="1"/>
            <a:r>
              <a:rPr lang="fr-FR" dirty="0" smtClean="0"/>
              <a:t>Palpation des pouls (</a:t>
            </a:r>
            <a:r>
              <a:rPr lang="fr-FR" dirty="0"/>
              <a:t>carotidien, brachial, radial, fémoral, poplitée, tibial postérieur et pédieux </a:t>
            </a:r>
            <a:r>
              <a:rPr lang="fr-FR" dirty="0" smtClean="0"/>
              <a:t>)</a:t>
            </a:r>
          </a:p>
          <a:p>
            <a:pPr lvl="1"/>
            <a:r>
              <a:rPr lang="fr-FR" dirty="0" smtClean="0"/>
              <a:t>Pas </a:t>
            </a:r>
            <a:r>
              <a:rPr lang="fr-FR" dirty="0"/>
              <a:t>de signes de phlébite </a:t>
            </a:r>
          </a:p>
          <a:p>
            <a:r>
              <a:rPr lang="fr-FR" sz="3500" u="sng" dirty="0"/>
              <a:t>Auscultation</a:t>
            </a:r>
            <a:r>
              <a:rPr lang="fr-FR" u="sng" dirty="0"/>
              <a:t> </a:t>
            </a:r>
            <a:r>
              <a:rPr lang="fr-FR" dirty="0" smtClean="0"/>
              <a:t>:</a:t>
            </a:r>
          </a:p>
          <a:p>
            <a:pPr lvl="1"/>
            <a:r>
              <a:rPr lang="fr-FR" dirty="0"/>
              <a:t>B</a:t>
            </a:r>
            <a:r>
              <a:rPr lang="fr-FR" dirty="0" smtClean="0"/>
              <a:t>ruits </a:t>
            </a:r>
            <a:r>
              <a:rPr lang="fr-FR" dirty="0"/>
              <a:t>cardiaques audibles au niveau de touts les foyers. </a:t>
            </a:r>
            <a:endParaRPr lang="fr-FR" dirty="0" smtClean="0"/>
          </a:p>
          <a:p>
            <a:pPr lvl="1"/>
            <a:r>
              <a:rPr lang="fr-FR" dirty="0" smtClean="0"/>
              <a:t>B1 </a:t>
            </a:r>
            <a:r>
              <a:rPr lang="fr-FR" dirty="0"/>
              <a:t>et B2 perçus, souffle (présent/absent ; si présent : préciser foyer</a:t>
            </a:r>
            <a:r>
              <a:rPr lang="fr-FR" dirty="0" smtClean="0"/>
              <a:t>).</a:t>
            </a:r>
          </a:p>
          <a:p>
            <a:pPr lvl="1"/>
            <a:r>
              <a:rPr lang="fr-FR" dirty="0" smtClean="0"/>
              <a:t>Auscultation </a:t>
            </a:r>
            <a:r>
              <a:rPr lang="fr-FR" dirty="0"/>
              <a:t>des artères carotides et des gros troncs artériels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628800"/>
            <a:ext cx="3462680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8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u="sng" dirty="0"/>
              <a:t>EXAMEN </a:t>
            </a:r>
            <a:r>
              <a:rPr lang="fr-FR" b="1" u="sng" dirty="0" smtClean="0"/>
              <a:t>NEUROLOGIQUE           </a:t>
            </a:r>
            <a:r>
              <a:rPr lang="fr-FR" b="1" u="sng" dirty="0"/>
              <a:t> 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628800"/>
            <a:ext cx="8507288" cy="4525963"/>
          </a:xfrm>
        </p:spPr>
        <p:txBody>
          <a:bodyPr>
            <a:normAutofit lnSpcReduction="10000"/>
          </a:bodyPr>
          <a:lstStyle/>
          <a:p>
            <a:pPr lvl="0"/>
            <a:r>
              <a:rPr lang="fr-FR" b="1" dirty="0"/>
              <a:t>Examen de la marche</a:t>
            </a:r>
            <a:r>
              <a:rPr lang="fr-FR" dirty="0"/>
              <a:t>: possible/marche sur ligne droite/ marche sur les pointes </a:t>
            </a:r>
            <a:r>
              <a:rPr lang="fr-FR" dirty="0" smtClean="0"/>
              <a:t>/ </a:t>
            </a:r>
            <a:r>
              <a:rPr lang="fr-FR" dirty="0"/>
              <a:t>sur les talons </a:t>
            </a:r>
            <a:r>
              <a:rPr lang="fr-FR" dirty="0" smtClean="0"/>
              <a:t>/ </a:t>
            </a:r>
            <a:r>
              <a:rPr lang="fr-FR" dirty="0"/>
              <a:t>appui monopodal droit et </a:t>
            </a:r>
            <a:r>
              <a:rPr lang="fr-FR" dirty="0" smtClean="0"/>
              <a:t>gauche</a:t>
            </a:r>
          </a:p>
          <a:p>
            <a:pPr lvl="0"/>
            <a:r>
              <a:rPr lang="fr-FR" dirty="0" smtClean="0"/>
              <a:t>Marches:</a:t>
            </a:r>
          </a:p>
          <a:p>
            <a:pPr lvl="1"/>
            <a:r>
              <a:rPr lang="fr-FR" dirty="0" smtClean="0"/>
              <a:t>Ataxie cérébelleuse ou proprioceptive ou vestibulaire</a:t>
            </a:r>
          </a:p>
          <a:p>
            <a:pPr lvl="1"/>
            <a:r>
              <a:rPr lang="fr-FR" dirty="0" smtClean="0"/>
              <a:t>Dandinante</a:t>
            </a:r>
          </a:p>
          <a:p>
            <a:pPr lvl="1"/>
            <a:r>
              <a:rPr lang="fr-FR" dirty="0" smtClean="0"/>
              <a:t>Akinétique</a:t>
            </a:r>
          </a:p>
          <a:p>
            <a:pPr lvl="1"/>
            <a:r>
              <a:rPr lang="fr-FR" dirty="0" smtClean="0"/>
              <a:t>Fauchage</a:t>
            </a:r>
          </a:p>
          <a:p>
            <a:pPr lvl="1"/>
            <a:r>
              <a:rPr lang="fr-FR" dirty="0" smtClean="0"/>
              <a:t>Steppage</a:t>
            </a:r>
          </a:p>
          <a:p>
            <a:pPr lvl="1"/>
            <a:r>
              <a:rPr lang="fr-FR" dirty="0" smtClean="0"/>
              <a:t>Précautionneuse</a:t>
            </a:r>
            <a:endParaRPr lang="fr-FR" dirty="0"/>
          </a:p>
          <a:p>
            <a:r>
              <a:rPr lang="fr-FR" b="1" dirty="0"/>
              <a:t>Station debout : </a:t>
            </a:r>
            <a:r>
              <a:rPr lang="fr-FR" dirty="0"/>
              <a:t>signe de </a:t>
            </a:r>
            <a:r>
              <a:rPr lang="fr-FR" dirty="0" err="1"/>
              <a:t>Romberg</a:t>
            </a:r>
            <a:r>
              <a:rPr lang="fr-FR" dirty="0"/>
              <a:t> vestibulaire ou proprioceptif/ danse des </a:t>
            </a:r>
            <a:r>
              <a:rPr lang="fr-FR" dirty="0" smtClean="0"/>
              <a:t>tendons/ </a:t>
            </a:r>
            <a:r>
              <a:rPr lang="fr-FR" dirty="0"/>
              <a:t>signe du tabouret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260648"/>
            <a:ext cx="1593850" cy="1276350"/>
          </a:xfrm>
          <a:prstGeom prst="rect">
            <a:avLst/>
          </a:prstGeom>
        </p:spPr>
      </p:pic>
      <p:sp>
        <p:nvSpPr>
          <p:cNvPr id="5" name="Titre 1"/>
          <p:cNvSpPr txBox="1">
            <a:spLocks/>
          </p:cNvSpPr>
          <p:nvPr/>
        </p:nvSpPr>
        <p:spPr>
          <a:xfrm>
            <a:off x="431092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500" kern="1200" cap="all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u="sng" smtClean="0"/>
              <a:t>EXAMEN NEUROLOGIQUE            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252" y="260648"/>
            <a:ext cx="15938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4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fr-FR" b="1" dirty="0"/>
              <a:t>Force musculaire </a:t>
            </a:r>
            <a:endParaRPr lang="fr-FR" dirty="0"/>
          </a:p>
          <a:p>
            <a:pPr lvl="1"/>
            <a:r>
              <a:rPr lang="fr-FR" u="sng" dirty="0"/>
              <a:t>Globale</a:t>
            </a:r>
            <a:r>
              <a:rPr lang="fr-FR" dirty="0"/>
              <a:t> : Tient/ ne tient pas le barré et le </a:t>
            </a:r>
            <a:r>
              <a:rPr lang="fr-FR" dirty="0" err="1"/>
              <a:t>Mingazzini</a:t>
            </a:r>
            <a:r>
              <a:rPr lang="fr-FR" dirty="0"/>
              <a:t> </a:t>
            </a:r>
          </a:p>
          <a:p>
            <a:pPr lvl="1"/>
            <a:r>
              <a:rPr lang="fr-FR" u="sng" dirty="0"/>
              <a:t>Segmentaire : </a:t>
            </a:r>
            <a:r>
              <a:rPr lang="fr-FR" dirty="0"/>
              <a:t>(à coter : _</a:t>
            </a:r>
            <a:r>
              <a:rPr lang="fr-FR" u="sng" dirty="0"/>
              <a:t>_/5). </a:t>
            </a:r>
            <a:r>
              <a:rPr lang="fr-FR" dirty="0"/>
              <a:t>Echelle :</a:t>
            </a:r>
          </a:p>
          <a:p>
            <a:pPr lvl="2"/>
            <a:r>
              <a:rPr lang="fr-FR" dirty="0" smtClean="0"/>
              <a:t>0</a:t>
            </a:r>
            <a:r>
              <a:rPr lang="fr-FR" dirty="0"/>
              <a:t>= absence de contraction </a:t>
            </a:r>
          </a:p>
          <a:p>
            <a:pPr lvl="2"/>
            <a:r>
              <a:rPr lang="fr-FR" dirty="0"/>
              <a:t>1= contraction sans déplacement </a:t>
            </a:r>
          </a:p>
          <a:p>
            <a:pPr lvl="2"/>
            <a:r>
              <a:rPr lang="fr-FR" dirty="0"/>
              <a:t>2= déplacement en l’absence de pesanteur </a:t>
            </a:r>
          </a:p>
          <a:p>
            <a:pPr lvl="2"/>
            <a:r>
              <a:rPr lang="fr-FR" dirty="0"/>
              <a:t>3= déplacement contre pesanteur</a:t>
            </a:r>
          </a:p>
          <a:p>
            <a:pPr lvl="2"/>
            <a:r>
              <a:rPr lang="fr-FR" dirty="0"/>
              <a:t>4=déplacement contre résistance </a:t>
            </a:r>
          </a:p>
          <a:p>
            <a:pPr lvl="2"/>
            <a:r>
              <a:rPr lang="fr-FR" dirty="0"/>
              <a:t>5= normal </a:t>
            </a:r>
          </a:p>
          <a:p>
            <a:pPr lvl="0"/>
            <a:r>
              <a:rPr lang="fr-FR" b="1" dirty="0"/>
              <a:t>Tonus : </a:t>
            </a:r>
            <a:r>
              <a:rPr lang="fr-FR" dirty="0"/>
              <a:t>atrophie/hypertrophie/fasciculation/hypotonie/hypertonie</a:t>
            </a:r>
          </a:p>
          <a:p>
            <a:pPr lvl="0"/>
            <a:r>
              <a:rPr lang="fr-FR" b="1" dirty="0"/>
              <a:t>Coordination Motrice : </a:t>
            </a:r>
            <a:r>
              <a:rPr lang="fr-FR" dirty="0"/>
              <a:t>manœuvre doigt-nez et </a:t>
            </a:r>
            <a:r>
              <a:rPr lang="fr-FR" dirty="0" smtClean="0"/>
              <a:t>talon-genou</a:t>
            </a:r>
          </a:p>
          <a:p>
            <a:pPr lvl="0"/>
            <a:r>
              <a:rPr lang="fr-FR" b="1" dirty="0"/>
              <a:t>Sensibilité </a:t>
            </a:r>
            <a:endParaRPr lang="fr-FR" dirty="0" smtClean="0"/>
          </a:p>
          <a:p>
            <a:pPr lvl="1"/>
            <a:r>
              <a:rPr lang="fr-FR" dirty="0"/>
              <a:t>Superficielle : </a:t>
            </a:r>
            <a:r>
              <a:rPr lang="fr-FR" dirty="0" err="1"/>
              <a:t>Thermoalgique</a:t>
            </a:r>
            <a:r>
              <a:rPr lang="fr-FR" dirty="0"/>
              <a:t> et tactile (</a:t>
            </a:r>
            <a:r>
              <a:rPr lang="fr-FR" dirty="0" err="1"/>
              <a:t>protopathique</a:t>
            </a:r>
            <a:r>
              <a:rPr lang="fr-FR" dirty="0"/>
              <a:t> et épicritique): </a:t>
            </a:r>
          </a:p>
          <a:p>
            <a:pPr lvl="1"/>
            <a:r>
              <a:rPr lang="fr-FR" dirty="0"/>
              <a:t>Profonde (Proprioceptive) : </a:t>
            </a:r>
            <a:r>
              <a:rPr lang="fr-FR" dirty="0" err="1"/>
              <a:t>arthrokinétique</a:t>
            </a:r>
            <a:r>
              <a:rPr lang="fr-FR" dirty="0"/>
              <a:t>-vibratoire</a:t>
            </a:r>
          </a:p>
          <a:p>
            <a:pPr lvl="0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31092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500" kern="1200" cap="all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u="sng" smtClean="0"/>
              <a:t>EXAMEN NEUROLOGIQUE            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252" y="260648"/>
            <a:ext cx="15938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4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Réflexes </a:t>
            </a:r>
            <a:r>
              <a:rPr lang="fr-FR" b="1" dirty="0" smtClean="0"/>
              <a:t>:         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 smtClean="0"/>
              <a:t>A</a:t>
            </a:r>
            <a:r>
              <a:rPr lang="fr-FR" b="1" dirty="0"/>
              <a:t>) Reflexes Ostéo-Tendineux ( ROT) : </a:t>
            </a:r>
            <a:endParaRPr lang="fr-FR" dirty="0"/>
          </a:p>
          <a:p>
            <a:pPr lvl="0"/>
            <a:r>
              <a:rPr lang="fr-FR" dirty="0"/>
              <a:t>Membre supérieur</a:t>
            </a:r>
          </a:p>
          <a:p>
            <a:pPr lvl="1"/>
            <a:r>
              <a:rPr lang="fr-FR" dirty="0"/>
              <a:t>Réflexe bicipital (C5) =&gt; </a:t>
            </a:r>
          </a:p>
          <a:p>
            <a:pPr lvl="1"/>
            <a:r>
              <a:rPr lang="fr-FR" dirty="0"/>
              <a:t>Réflexe stylo-radial (C6)=&gt; </a:t>
            </a:r>
          </a:p>
          <a:p>
            <a:pPr lvl="1"/>
            <a:r>
              <a:rPr lang="fr-FR" dirty="0"/>
              <a:t>Réflexe </a:t>
            </a:r>
            <a:r>
              <a:rPr lang="fr-FR" dirty="0" err="1"/>
              <a:t>tricipital</a:t>
            </a:r>
            <a:r>
              <a:rPr lang="fr-FR" dirty="0"/>
              <a:t> (C7)=&gt; </a:t>
            </a:r>
          </a:p>
          <a:p>
            <a:pPr lvl="1"/>
            <a:r>
              <a:rPr lang="fr-FR" dirty="0"/>
              <a:t>Réflexe </a:t>
            </a:r>
            <a:r>
              <a:rPr lang="fr-FR" dirty="0" err="1"/>
              <a:t>cubito</a:t>
            </a:r>
            <a:r>
              <a:rPr lang="fr-FR" dirty="0"/>
              <a:t>-pronateur (C8)=&gt; </a:t>
            </a:r>
          </a:p>
          <a:p>
            <a:pPr lvl="0"/>
            <a:r>
              <a:rPr lang="fr-FR" dirty="0"/>
              <a:t>Membre inférieur</a:t>
            </a:r>
          </a:p>
          <a:p>
            <a:pPr lvl="1"/>
            <a:r>
              <a:rPr lang="fr-FR" dirty="0"/>
              <a:t>Réflexe rotulien (L3-L4)=&gt; </a:t>
            </a:r>
          </a:p>
          <a:p>
            <a:pPr lvl="1"/>
            <a:r>
              <a:rPr lang="fr-FR" dirty="0"/>
              <a:t>Réflexe achilléen (S1)=&gt; 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b="1" dirty="0" smtClean="0"/>
              <a:t>B</a:t>
            </a:r>
            <a:r>
              <a:rPr lang="fr-FR" b="1" dirty="0"/>
              <a:t>) Réflexes </a:t>
            </a:r>
            <a:r>
              <a:rPr lang="fr-FR" b="1" dirty="0" smtClean="0"/>
              <a:t>cutanéomuqueux</a:t>
            </a:r>
            <a:r>
              <a:rPr lang="fr-FR" b="1" dirty="0"/>
              <a:t> : </a:t>
            </a:r>
            <a:endParaRPr lang="fr-FR" dirty="0"/>
          </a:p>
          <a:p>
            <a:pPr lvl="0"/>
            <a:r>
              <a:rPr lang="fr-FR" dirty="0"/>
              <a:t>Réflexe cutané plantaire </a:t>
            </a:r>
          </a:p>
          <a:p>
            <a:pPr lvl="0"/>
            <a:r>
              <a:rPr lang="fr-FR" dirty="0"/>
              <a:t>Cutanée abdominal (D6-D12)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252" y="260648"/>
            <a:ext cx="15938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9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 b="1" dirty="0"/>
              <a:t>Nerfs </a:t>
            </a:r>
            <a:r>
              <a:rPr lang="fr-FR" b="1" dirty="0" smtClean="0"/>
              <a:t>crâniens      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7584" y="1772816"/>
            <a:ext cx="7920880" cy="4824536"/>
          </a:xfrm>
        </p:spPr>
        <p:txBody>
          <a:bodyPr>
            <a:noAutofit/>
          </a:bodyPr>
          <a:lstStyle/>
          <a:p>
            <a:r>
              <a:rPr lang="fr-FR" sz="1800" b="1" dirty="0"/>
              <a:t>I – Nerf olfactif : </a:t>
            </a:r>
            <a:r>
              <a:rPr lang="fr-FR" sz="1800" dirty="0"/>
              <a:t>odorat </a:t>
            </a:r>
            <a:endParaRPr lang="fr-FR" sz="1800" dirty="0" smtClean="0"/>
          </a:p>
          <a:p>
            <a:r>
              <a:rPr lang="fr-FR" sz="1800" b="1" dirty="0" smtClean="0"/>
              <a:t>II </a:t>
            </a:r>
            <a:r>
              <a:rPr lang="fr-FR" sz="1800" b="1" dirty="0"/>
              <a:t>– Nerf optique : </a:t>
            </a:r>
            <a:r>
              <a:rPr lang="fr-FR" sz="1800" dirty="0"/>
              <a:t>acuité visuel (conservés/réduit ?)+ fond d’œil+ champs visuel (hémianopsie horizontale, hémianopsie latérale homonyme/hétéronyme ?)</a:t>
            </a:r>
          </a:p>
          <a:p>
            <a:r>
              <a:rPr lang="fr-FR" sz="1800" b="1" dirty="0"/>
              <a:t>Nerfs oculomoteurs : </a:t>
            </a:r>
            <a:r>
              <a:rPr lang="fr-FR" sz="1800" dirty="0"/>
              <a:t>paralysie oculomotrice</a:t>
            </a:r>
          </a:p>
          <a:p>
            <a:pPr lvl="2"/>
            <a:r>
              <a:rPr lang="fr-FR" sz="1200" b="1" dirty="0"/>
              <a:t>III (</a:t>
            </a:r>
            <a:r>
              <a:rPr lang="fr-FR" sz="1200" dirty="0"/>
              <a:t>Oculomoteur commun) </a:t>
            </a:r>
            <a:r>
              <a:rPr lang="fr-FR" sz="1200" b="1" dirty="0"/>
              <a:t>: </a:t>
            </a:r>
            <a:r>
              <a:rPr lang="fr-FR" sz="1200" dirty="0"/>
              <a:t>diplopie verticale/strabisme </a:t>
            </a:r>
            <a:r>
              <a:rPr lang="fr-FR" sz="1200" dirty="0" smtClean="0"/>
              <a:t>divergent/ptosis/réflexe </a:t>
            </a:r>
            <a:r>
              <a:rPr lang="fr-FR" sz="1200" dirty="0" err="1" smtClean="0"/>
              <a:t>photomoteur</a:t>
            </a:r>
            <a:endParaRPr lang="fr-FR" sz="1200" dirty="0"/>
          </a:p>
          <a:p>
            <a:pPr lvl="2"/>
            <a:r>
              <a:rPr lang="fr-FR" sz="1200" b="1" dirty="0"/>
              <a:t>IV (</a:t>
            </a:r>
            <a:r>
              <a:rPr lang="fr-FR" sz="1200" dirty="0"/>
              <a:t>Trochléaire) : diplopie verticale</a:t>
            </a:r>
          </a:p>
          <a:p>
            <a:pPr lvl="2"/>
            <a:r>
              <a:rPr lang="fr-FR" sz="1200" b="1" dirty="0"/>
              <a:t>VI (</a:t>
            </a:r>
            <a:r>
              <a:rPr lang="fr-FR" sz="1200" dirty="0" err="1"/>
              <a:t>Abducens</a:t>
            </a:r>
            <a:r>
              <a:rPr lang="fr-FR" sz="1200" dirty="0"/>
              <a:t>) : diplopie horizontal/strabisme convergeant </a:t>
            </a:r>
          </a:p>
          <a:p>
            <a:pPr lvl="0"/>
            <a:r>
              <a:rPr lang="fr-FR" sz="1800" b="1" dirty="0"/>
              <a:t>Nerf V : trijumeau (V1 , V2, V3) : </a:t>
            </a:r>
            <a:endParaRPr lang="fr-FR" sz="1800" b="1" dirty="0" smtClean="0"/>
          </a:p>
          <a:p>
            <a:pPr lvl="1"/>
            <a:r>
              <a:rPr lang="fr-FR" sz="1400" dirty="0" smtClean="0"/>
              <a:t>Anesthésie </a:t>
            </a:r>
            <a:r>
              <a:rPr lang="fr-FR" sz="1400" dirty="0"/>
              <a:t>cutanée de l’hémiface et des 2/3 antérieurs de l’hémi langue. </a:t>
            </a:r>
            <a:endParaRPr lang="fr-FR" sz="1400" dirty="0" smtClean="0"/>
          </a:p>
          <a:p>
            <a:pPr lvl="1"/>
            <a:r>
              <a:rPr lang="fr-FR" sz="1400" dirty="0" smtClean="0"/>
              <a:t>Réflexe </a:t>
            </a:r>
            <a:r>
              <a:rPr lang="fr-FR" sz="1400" dirty="0"/>
              <a:t>cornéen présent/absent. </a:t>
            </a:r>
            <a:endParaRPr lang="fr-FR" sz="1400" dirty="0" smtClean="0"/>
          </a:p>
          <a:p>
            <a:pPr lvl="1"/>
            <a:r>
              <a:rPr lang="fr-FR" sz="1400" dirty="0" smtClean="0"/>
              <a:t>Déviation </a:t>
            </a:r>
            <a:r>
              <a:rPr lang="fr-FR" sz="1400" dirty="0"/>
              <a:t>du menton du côté paralysé/amyotrophie du masséter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252" y="260648"/>
            <a:ext cx="15938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8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5472608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fr-FR" sz="1800" b="1" dirty="0"/>
              <a:t>Nerf VII : </a:t>
            </a:r>
            <a:endParaRPr lang="fr-FR" sz="1800" dirty="0"/>
          </a:p>
          <a:p>
            <a:r>
              <a:rPr lang="fr-FR" sz="2100" dirty="0"/>
              <a:t>    Facial  (VII)=&gt; </a:t>
            </a:r>
          </a:p>
          <a:p>
            <a:pPr lvl="1"/>
            <a:r>
              <a:rPr lang="fr-FR" sz="2100" dirty="0"/>
              <a:t>Patient capable/incapable de souffler, siffler, serrer les yeux, gonfler les joues. </a:t>
            </a:r>
          </a:p>
          <a:p>
            <a:pPr lvl="1"/>
            <a:r>
              <a:rPr lang="fr-FR" sz="2100" dirty="0"/>
              <a:t>Effacement ou non des rides</a:t>
            </a:r>
          </a:p>
          <a:p>
            <a:pPr lvl="1"/>
            <a:r>
              <a:rPr lang="fr-FR" sz="2100" dirty="0"/>
              <a:t>Signes de Charles Bell, sourire Symétrique/asymétrique, gêne/pas de gêne à la mastication et la </a:t>
            </a:r>
            <a:r>
              <a:rPr lang="fr-FR" sz="2100" dirty="0" smtClean="0"/>
              <a:t>déglutition </a:t>
            </a:r>
            <a:endParaRPr lang="fr-FR" sz="2100" dirty="0"/>
          </a:p>
          <a:p>
            <a:r>
              <a:rPr lang="fr-FR" sz="2100" dirty="0"/>
              <a:t>    Intermédiaire de </a:t>
            </a:r>
            <a:r>
              <a:rPr lang="fr-FR" sz="2100" dirty="0" err="1"/>
              <a:t>Wrisberg</a:t>
            </a:r>
            <a:r>
              <a:rPr lang="fr-FR" sz="2100" dirty="0"/>
              <a:t> (</a:t>
            </a:r>
            <a:r>
              <a:rPr lang="fr-FR" sz="2100" dirty="0" err="1"/>
              <a:t>VIIbis</a:t>
            </a:r>
            <a:r>
              <a:rPr lang="fr-FR" sz="2100" dirty="0"/>
              <a:t>)  =&gt; </a:t>
            </a:r>
          </a:p>
          <a:p>
            <a:pPr lvl="1"/>
            <a:r>
              <a:rPr lang="fr-FR" sz="2100" dirty="0"/>
              <a:t>Gustation des 2/3 antérieurs de la langue</a:t>
            </a:r>
          </a:p>
          <a:p>
            <a:pPr lvl="1"/>
            <a:r>
              <a:rPr lang="fr-FR" sz="2100" dirty="0"/>
              <a:t>Sensibilité normal de la zone de </a:t>
            </a:r>
            <a:r>
              <a:rPr lang="fr-FR" sz="2100" dirty="0" err="1"/>
              <a:t>Rhamsay</a:t>
            </a:r>
            <a:r>
              <a:rPr lang="fr-FR" sz="2100" dirty="0"/>
              <a:t> Hunt  </a:t>
            </a:r>
          </a:p>
          <a:p>
            <a:pPr lvl="0"/>
            <a:r>
              <a:rPr lang="fr-FR" b="1" dirty="0" smtClean="0"/>
              <a:t>Nerf </a:t>
            </a:r>
            <a:r>
              <a:rPr lang="fr-FR" b="1" dirty="0"/>
              <a:t>VIII : </a:t>
            </a:r>
            <a:r>
              <a:rPr lang="fr-FR" b="1" dirty="0" err="1"/>
              <a:t>cochléo</a:t>
            </a:r>
            <a:r>
              <a:rPr lang="fr-FR" b="1" dirty="0"/>
              <a:t>-vestibulaire : </a:t>
            </a:r>
            <a:endParaRPr lang="fr-FR" dirty="0"/>
          </a:p>
          <a:p>
            <a:pPr lvl="1"/>
            <a:r>
              <a:rPr lang="fr-FR" dirty="0"/>
              <a:t>Atteinte cochléaire : surdité, acouphène, hypoacousie</a:t>
            </a:r>
          </a:p>
          <a:p>
            <a:pPr lvl="1"/>
            <a:r>
              <a:rPr lang="fr-FR" dirty="0"/>
              <a:t>Atteinte vestibulaire : nystagmus, vertige, déviation des index, signe de </a:t>
            </a:r>
            <a:r>
              <a:rPr lang="fr-FR" dirty="0" err="1"/>
              <a:t>Roomberg</a:t>
            </a:r>
            <a:r>
              <a:rPr lang="fr-FR" dirty="0"/>
              <a:t> latéralisé, </a:t>
            </a:r>
            <a:r>
              <a:rPr lang="fr-FR" dirty="0" err="1"/>
              <a:t>latéropulsion</a:t>
            </a:r>
            <a:r>
              <a:rPr lang="fr-FR" dirty="0"/>
              <a:t> lors de la marche </a:t>
            </a:r>
          </a:p>
          <a:p>
            <a:pPr lvl="0"/>
            <a:r>
              <a:rPr lang="fr-FR" b="1" dirty="0"/>
              <a:t>Nerf IX : glossopharyngien =&gt;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présence/absence de dysphagie</a:t>
            </a:r>
          </a:p>
          <a:p>
            <a:pPr lvl="1"/>
            <a:r>
              <a:rPr lang="fr-FR" dirty="0"/>
              <a:t> signe du rideau : oui/non</a:t>
            </a:r>
          </a:p>
          <a:p>
            <a:pPr lvl="1"/>
            <a:r>
              <a:rPr lang="fr-FR" dirty="0"/>
              <a:t>gustation du 1/3postérieur de la langue</a:t>
            </a:r>
          </a:p>
          <a:p>
            <a:pPr lvl="1"/>
            <a:r>
              <a:rPr lang="fr-FR" dirty="0"/>
              <a:t>réflexe nauséeux : présent ou absent </a:t>
            </a:r>
          </a:p>
          <a:p>
            <a:pPr lvl="0"/>
            <a:r>
              <a:rPr lang="fr-FR" b="1" dirty="0"/>
              <a:t>Nerf X : vague =&gt;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présence/absence d’atteinte motrice, sensitive du voile du palais et larynx</a:t>
            </a:r>
          </a:p>
          <a:p>
            <a:pPr lvl="1"/>
            <a:r>
              <a:rPr lang="fr-FR" dirty="0"/>
              <a:t>Présence/absence de troubles végétatifs</a:t>
            </a:r>
          </a:p>
          <a:p>
            <a:pPr lvl="0"/>
            <a:r>
              <a:rPr lang="fr-FR" b="1" dirty="0"/>
              <a:t>Nerfs XI=&gt; spinal=&gt; </a:t>
            </a:r>
            <a:r>
              <a:rPr lang="fr-FR" dirty="0"/>
              <a:t>élévation et abaissement de l’épaule, rotation-flexion extension de la tête possible/impossible</a:t>
            </a:r>
          </a:p>
          <a:p>
            <a:pPr lvl="0"/>
            <a:r>
              <a:rPr lang="fr-FR" b="1" dirty="0"/>
              <a:t>Nerfs XII=&gt; grand hypoglosse : </a:t>
            </a:r>
            <a:r>
              <a:rPr lang="fr-FR" dirty="0"/>
              <a:t>présence/absence d’amyotrophie, présence/absence de fasciculation de la langue, présence/absence déviation ou de paralysie de la langue 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31092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500" kern="1200" cap="all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Nerfs crâniens 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252" y="260648"/>
            <a:ext cx="15938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dirty="0"/>
              <a:t>Fonctions supérieures </a:t>
            </a:r>
            <a:endParaRPr lang="fr-FR" dirty="0"/>
          </a:p>
          <a:p>
            <a:pPr lvl="1"/>
            <a:r>
              <a:rPr lang="fr-FR" dirty="0" smtClean="0"/>
              <a:t>Mémoire: amnésie rétrograde, antérograde, rétro-antérograde, lacunaire, ictus</a:t>
            </a:r>
          </a:p>
          <a:p>
            <a:pPr lvl="1"/>
            <a:r>
              <a:rPr lang="fr-FR" dirty="0" smtClean="0"/>
              <a:t>Praxies</a:t>
            </a:r>
            <a:r>
              <a:rPr lang="fr-FR" dirty="0"/>
              <a:t> : </a:t>
            </a:r>
            <a:r>
              <a:rPr lang="fr-FR" dirty="0" smtClean="0"/>
              <a:t>idéo-motrice (</a:t>
            </a:r>
            <a:r>
              <a:rPr lang="fr-FR" dirty="0"/>
              <a:t>gestes </a:t>
            </a:r>
            <a:r>
              <a:rPr lang="fr-FR" dirty="0" smtClean="0"/>
              <a:t>simples), idéatoire (</a:t>
            </a:r>
            <a:r>
              <a:rPr lang="fr-FR" dirty="0"/>
              <a:t>gestes </a:t>
            </a:r>
            <a:r>
              <a:rPr lang="fr-FR" dirty="0" smtClean="0"/>
              <a:t>complexes) , constructive (</a:t>
            </a:r>
            <a:r>
              <a:rPr lang="fr-FR" dirty="0"/>
              <a:t>relations </a:t>
            </a:r>
            <a:r>
              <a:rPr lang="fr-FR" dirty="0" smtClean="0"/>
              <a:t>spatiales)</a:t>
            </a:r>
            <a:endParaRPr lang="fr-FR" dirty="0"/>
          </a:p>
          <a:p>
            <a:pPr lvl="1"/>
            <a:r>
              <a:rPr lang="fr-FR" dirty="0"/>
              <a:t>Gnosies : visuelle, auditive, tactile, spatiale, somatognosie</a:t>
            </a:r>
          </a:p>
          <a:p>
            <a:pPr lvl="1"/>
            <a:r>
              <a:rPr lang="fr-FR" dirty="0"/>
              <a:t>Langage =&gt; </a:t>
            </a:r>
            <a:r>
              <a:rPr lang="fr-FR" dirty="0" smtClean="0"/>
              <a:t>aphasie de </a:t>
            </a:r>
            <a:r>
              <a:rPr lang="fr-FR" dirty="0" err="1" smtClean="0"/>
              <a:t>broca</a:t>
            </a:r>
            <a:r>
              <a:rPr lang="fr-FR" dirty="0" smtClean="0"/>
              <a:t>, de Wernicke</a:t>
            </a:r>
            <a:endParaRPr lang="fr-FR" dirty="0"/>
          </a:p>
          <a:p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31092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500" kern="1200" cap="all" baseline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u="sng" dirty="0" smtClean="0"/>
              <a:t> 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252" y="260648"/>
            <a:ext cx="15938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9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JOURNAL DE BORD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975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700808"/>
            <a:ext cx="6480720" cy="4861411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333722" y="404664"/>
            <a:ext cx="8352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 l’ouverture de la plateforme, la liste des observations déjà enregistrées s’affiche.</a:t>
            </a:r>
          </a:p>
          <a:p>
            <a:r>
              <a:rPr lang="fr-FR" dirty="0" smtClean="0"/>
              <a:t>Pour créer un nouveau dossier, il suffit de cliquer sur le bouton jaune.</a:t>
            </a:r>
          </a:p>
        </p:txBody>
      </p:sp>
    </p:spTree>
    <p:extLst>
      <p:ext uri="{BB962C8B-B14F-4D97-AF65-F5344CB8AC3E}">
        <p14:creationId xmlns:p14="http://schemas.microsoft.com/office/powerpoint/2010/main" val="190744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90" y="1752600"/>
            <a:ext cx="7779019" cy="4373563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971600" y="332656"/>
            <a:ext cx="74190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Cette interface permet de choisir le type de dossier à introduire :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Observation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Geste technique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Cas d’étude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679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90" y="1752600"/>
            <a:ext cx="7779019" cy="437356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39552" y="407890"/>
            <a:ext cx="8208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Lorsque l’utilisateur choisit de saisir une observation médicale, il est invité à introduire le nom, prénom, IPP et un petit descriptif de son observation.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56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5826868" y="908720"/>
            <a:ext cx="33171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Ensuite, il sera invité a remplir chaque catégorie par le texte correspondant: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Présentation contiendra l’identité du patient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Motif:    motif d’hospitalisation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Antécédents: ATCD du patient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Interrogatoire: Histoire de la maladie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Hypothèse: les diagnostics à évoquer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Diagnostic: le diagnostic retenu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Suivi: l’évolution du patient.</a:t>
            </a:r>
            <a:endParaRPr lang="fr-FR" dirty="0"/>
          </a:p>
        </p:txBody>
      </p:sp>
      <p:pic>
        <p:nvPicPr>
          <p:cNvPr id="11" name="Espace réservé du contenu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620688"/>
            <a:ext cx="5760640" cy="5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9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00808"/>
            <a:ext cx="7779019" cy="437356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39552" y="404664"/>
            <a:ext cx="8136904" cy="93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Après la saisie du contenu, l’étudiant doit enregistré chaque partie avant de passer à la partie suivante en cliquant sur le bouton enregistrer présent en bas de page.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188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988840"/>
            <a:ext cx="3672408" cy="4041797"/>
          </a:xfrm>
          <a:prstGeom prst="rect">
            <a:avLst/>
          </a:prstGeom>
        </p:spPr>
      </p:pic>
      <p:pic>
        <p:nvPicPr>
          <p:cNvPr id="6" name="Imag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060848"/>
            <a:ext cx="3984521" cy="4104456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95536" y="404665"/>
            <a:ext cx="8280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Une fois toutes les données ont été saisies, le rapport peut être téléchargé  en cliquant sur le bouton « rapport » en haut de la page et choisir le type du rapport à télécharger.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875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060848"/>
            <a:ext cx="6946623" cy="3759864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619735" y="908720"/>
            <a:ext cx="4160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Le rapport sera affiché comme suit: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307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icaire">
  <a:themeElements>
    <a:clrScheme name="Apothicaire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icaire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icaire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87</TotalTime>
  <Words>383</Words>
  <Application>Microsoft Office PowerPoint</Application>
  <PresentationFormat>Affichage à l'écran (4:3)</PresentationFormat>
  <Paragraphs>161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Apothicaire</vt:lpstr>
      <vt:lpstr>OBSERVATION MEDICALE</vt:lpstr>
      <vt:lpstr>IDENTITE </vt:lpstr>
      <vt:lpstr>ANTECEDENTS PERSONNELS :</vt:lpstr>
      <vt:lpstr>ANTECEDENTS FAMILIAUX : </vt:lpstr>
      <vt:lpstr>HISTOIRE DE LA MALADIE </vt:lpstr>
      <vt:lpstr>EXAMEN  CLINIQUE  </vt:lpstr>
      <vt:lpstr>EXAMEN ABDOMINAL  </vt:lpstr>
      <vt:lpstr>EXAMEN CARDIO-VASCULAIRE  </vt:lpstr>
      <vt:lpstr>EXAMEN NEUROLOGIQUE            </vt:lpstr>
      <vt:lpstr>Présentation PowerPoint</vt:lpstr>
      <vt:lpstr>Réflexes :           </vt:lpstr>
      <vt:lpstr>Nerfs crâniens       </vt:lpstr>
      <vt:lpstr>Présentation PowerPoint</vt:lpstr>
      <vt:lpstr>Présentation PowerPoint</vt:lpstr>
      <vt:lpstr>JOURNAL DE BORD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OBSERVATION MEDICALE</dc:title>
  <dc:creator>Laghasyrine@gmail.com</dc:creator>
  <cp:lastModifiedBy>Laghasyrine@gmail.com</cp:lastModifiedBy>
  <cp:revision>10</cp:revision>
  <dcterms:created xsi:type="dcterms:W3CDTF">2021-09-18T13:37:08Z</dcterms:created>
  <dcterms:modified xsi:type="dcterms:W3CDTF">2021-09-19T12:24:57Z</dcterms:modified>
</cp:coreProperties>
</file>