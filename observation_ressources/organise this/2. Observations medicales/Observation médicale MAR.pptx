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32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466CED9-D24C-4BF1-8AF6-E1BA9451D4BA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F9922D4-B6C6-43E8-B451-738F3709D49A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 b="1" u="sng" dirty="0" smtClean="0"/>
              <a:t>Observation médicale  </a:t>
            </a:r>
            <a:endParaRPr lang="fr-FR" sz="6600" b="1" u="sng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71538" y="5643578"/>
            <a:ext cx="7854696" cy="837756"/>
          </a:xfrm>
        </p:spPr>
        <p:txBody>
          <a:bodyPr>
            <a:normAutofit fontScale="92500" lnSpcReduction="10000"/>
          </a:bodyPr>
          <a:lstStyle/>
          <a:p>
            <a:r>
              <a:rPr lang="fr-FR" dirty="0" smtClean="0"/>
              <a:t>Fait par RANGUZA A. Igor</a:t>
            </a:r>
          </a:p>
          <a:p>
            <a:r>
              <a:rPr lang="fr-FR" dirty="0" smtClean="0"/>
              <a:t>FFI Médecine Interne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/>
              <a:t>Identité: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/>
          </a:p>
          <a:p>
            <a:r>
              <a:rPr lang="fr-FR" dirty="0" smtClean="0"/>
              <a:t>Il </a:t>
            </a:r>
            <a:r>
              <a:rPr lang="fr-FR" dirty="0" smtClean="0"/>
              <a:t>s’agit de Mr AIT RAISS Mustafa, âgé de 36 ans, originaire et résident à Marrakech, Mécanicien de profession, mutualiste.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/>
              <a:t>Motif de consultation</a:t>
            </a:r>
            <a:r>
              <a:rPr lang="fr-FR" dirty="0" smtClean="0"/>
              <a:t>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/>
          </a:p>
          <a:p>
            <a:r>
              <a:rPr lang="fr-FR" dirty="0" err="1" smtClean="0"/>
              <a:t>Polyarthralgies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/>
          <a:lstStyle/>
          <a:p>
            <a:r>
              <a:rPr lang="fr-FR" b="1" u="sng" dirty="0" smtClean="0"/>
              <a:t>Antécédents: 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692948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 smtClean="0"/>
              <a:t>▪</a:t>
            </a:r>
            <a:r>
              <a:rPr lang="fr-FR" dirty="0" smtClean="0"/>
              <a:t>	</a:t>
            </a:r>
            <a:r>
              <a:rPr lang="fr-FR" b="1" u="sng" dirty="0" smtClean="0"/>
              <a:t>Personnels:</a:t>
            </a:r>
          </a:p>
          <a:p>
            <a:pPr>
              <a:buNone/>
            </a:pPr>
            <a:r>
              <a:rPr lang="fr-FR" dirty="0" smtClean="0"/>
              <a:t>       -</a:t>
            </a:r>
            <a:r>
              <a:rPr lang="fr-FR" b="1" u="sng" dirty="0" smtClean="0"/>
              <a:t>Médicaux</a:t>
            </a:r>
            <a:endParaRPr lang="fr-FR" dirty="0" smtClean="0"/>
          </a:p>
          <a:p>
            <a:pPr lvl="0"/>
            <a:r>
              <a:rPr lang="fr-FR" b="1" dirty="0" smtClean="0"/>
              <a:t>ATCD de SPA sous traitement AINS</a:t>
            </a:r>
          </a:p>
          <a:p>
            <a:pPr lvl="0"/>
            <a:r>
              <a:rPr lang="fr-FR" dirty="0" smtClean="0"/>
              <a:t>Patient non connu diabétique ni hypertendu</a:t>
            </a:r>
          </a:p>
          <a:p>
            <a:pPr lvl="0"/>
            <a:r>
              <a:rPr lang="fr-FR" dirty="0" smtClean="0"/>
              <a:t>Pas d’ATCD de TBK ni de contage TBK</a:t>
            </a:r>
          </a:p>
          <a:p>
            <a:pPr lvl="0"/>
            <a:r>
              <a:rPr lang="fr-FR" dirty="0" smtClean="0"/>
              <a:t>Pas d’autre ATCD de maladie chronique ni systémique.</a:t>
            </a:r>
          </a:p>
          <a:p>
            <a:pPr>
              <a:buNone/>
            </a:pPr>
            <a:r>
              <a:rPr lang="fr-FR" dirty="0" smtClean="0"/>
              <a:t>	-</a:t>
            </a:r>
            <a:r>
              <a:rPr lang="fr-FR" b="1" u="sng" dirty="0" smtClean="0"/>
              <a:t>Chirurgicaux :</a:t>
            </a:r>
            <a:endParaRPr lang="fr-FR" dirty="0" smtClean="0"/>
          </a:p>
          <a:p>
            <a:pPr lvl="0"/>
            <a:r>
              <a:rPr lang="fr-FR" dirty="0" smtClean="0"/>
              <a:t>Patient jamais opéré</a:t>
            </a:r>
          </a:p>
          <a:p>
            <a:pPr>
              <a:buNone/>
            </a:pPr>
            <a:r>
              <a:rPr lang="fr-FR" dirty="0" smtClean="0"/>
              <a:t>	-</a:t>
            </a:r>
            <a:r>
              <a:rPr lang="fr-FR" b="1" u="sng" dirty="0" smtClean="0"/>
              <a:t>Toxico-Allergiques :</a:t>
            </a:r>
            <a:endParaRPr lang="fr-FR" dirty="0" smtClean="0"/>
          </a:p>
          <a:p>
            <a:pPr lvl="0"/>
            <a:r>
              <a:rPr lang="fr-FR" b="1" dirty="0" smtClean="0"/>
              <a:t>Tabagisme actif estimé à 9 PA</a:t>
            </a:r>
            <a:r>
              <a:rPr lang="fr-FR" dirty="0" smtClean="0"/>
              <a:t>.</a:t>
            </a:r>
          </a:p>
          <a:p>
            <a:r>
              <a:rPr lang="fr-FR" dirty="0" smtClean="0"/>
              <a:t>Pas d’allergie connue</a:t>
            </a:r>
          </a:p>
          <a:p>
            <a:pPr>
              <a:buNone/>
            </a:pPr>
            <a:r>
              <a:rPr lang="fr-FR" b="1" dirty="0" smtClean="0"/>
              <a:t>▪ </a:t>
            </a:r>
            <a:r>
              <a:rPr lang="fr-FR" dirty="0" smtClean="0"/>
              <a:t>	</a:t>
            </a:r>
            <a:r>
              <a:rPr lang="fr-FR" b="1" u="sng" dirty="0" smtClean="0"/>
              <a:t>Familiaux :</a:t>
            </a:r>
            <a:endParaRPr lang="fr-FR" dirty="0" smtClean="0"/>
          </a:p>
          <a:p>
            <a:pPr lvl="0"/>
            <a:r>
              <a:rPr lang="fr-FR" dirty="0" smtClean="0"/>
              <a:t>Pas de cas similaires dans la famille</a:t>
            </a:r>
          </a:p>
          <a:p>
            <a:pPr lvl="0"/>
            <a:endParaRPr lang="fr-FR" dirty="0" smtClean="0"/>
          </a:p>
          <a:p>
            <a:pPr>
              <a:buNone/>
            </a:pPr>
            <a:endParaRPr lang="fr-FR" sz="3100" dirty="0"/>
          </a:p>
          <a:p>
            <a:pPr>
              <a:buNone/>
            </a:pPr>
            <a:r>
              <a:rPr lang="fr-FR" sz="3100" dirty="0" smtClean="0"/>
              <a:t>                                </a:t>
            </a:r>
            <a:endParaRPr lang="fr-FR" sz="3100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58204" cy="1000132"/>
          </a:xfrm>
        </p:spPr>
        <p:txBody>
          <a:bodyPr/>
          <a:lstStyle/>
          <a:p>
            <a:r>
              <a:rPr lang="fr-FR" b="1" u="sng" dirty="0" smtClean="0"/>
              <a:t>Histoire de la maladie</a:t>
            </a:r>
            <a:r>
              <a:rPr lang="fr-FR" dirty="0" smtClean="0"/>
              <a:t>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714488"/>
            <a:ext cx="8229600" cy="41687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	</a:t>
            </a:r>
          </a:p>
          <a:p>
            <a:pPr>
              <a:buNone/>
            </a:pPr>
            <a:r>
              <a:rPr lang="fr-FR" dirty="0" smtClean="0"/>
              <a:t>	</a:t>
            </a:r>
            <a:r>
              <a:rPr lang="fr-FR" dirty="0" smtClean="0"/>
              <a:t>La </a:t>
            </a:r>
            <a:r>
              <a:rPr lang="fr-FR" dirty="0" smtClean="0"/>
              <a:t>symptomatologie remonte à 4 ans par l’installation de lombalgies migratrices vers les sacro-iliaques, les épaules, les IPP ; avec 2 épisodes d’uvéite antérieure à 1 an d’intervalle et sans autre signe associé notamment cutané. Le tout évoluant dans un contexte d’apyrexie et de CEG.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u="sng" dirty="0" smtClean="0"/>
              <a:t>Examen général: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Patient conscient, bien orienté dans le temps et l’espace; SG=15/15; stable sur le plan HDR:</a:t>
            </a:r>
          </a:p>
          <a:p>
            <a:pPr lvl="1" algn="just">
              <a:buNone/>
            </a:pPr>
            <a:r>
              <a:rPr lang="fr-FR" dirty="0" smtClean="0"/>
              <a:t>	  </a:t>
            </a:r>
            <a:r>
              <a:rPr lang="fr-FR" dirty="0" smtClean="0"/>
              <a:t>-</a:t>
            </a:r>
            <a:r>
              <a:rPr lang="fr-FR" sz="2400" dirty="0" err="1" smtClean="0"/>
              <a:t>normotendu</a:t>
            </a:r>
            <a:r>
              <a:rPr lang="fr-FR" sz="2400" dirty="0" smtClean="0"/>
              <a:t> </a:t>
            </a:r>
            <a:r>
              <a:rPr lang="fr-FR" sz="2400" dirty="0" smtClean="0"/>
              <a:t>à 130/80mmHg.</a:t>
            </a:r>
          </a:p>
          <a:p>
            <a:pPr lvl="1" algn="just">
              <a:buNone/>
            </a:pPr>
            <a:r>
              <a:rPr lang="fr-FR" sz="2400" dirty="0" smtClean="0"/>
              <a:t>	  </a:t>
            </a:r>
            <a:r>
              <a:rPr lang="fr-FR" sz="2400" dirty="0" smtClean="0"/>
              <a:t>-</a:t>
            </a:r>
            <a:r>
              <a:rPr lang="fr-FR" sz="2400" dirty="0" err="1" smtClean="0"/>
              <a:t>normocarde</a:t>
            </a:r>
            <a:r>
              <a:rPr lang="fr-FR" sz="2400" dirty="0" smtClean="0"/>
              <a:t> </a:t>
            </a:r>
            <a:r>
              <a:rPr lang="fr-FR" sz="2400" dirty="0" smtClean="0"/>
              <a:t>à 85 </a:t>
            </a:r>
            <a:r>
              <a:rPr lang="fr-FR" sz="2400" dirty="0" err="1" smtClean="0"/>
              <a:t>bpm</a:t>
            </a:r>
            <a:r>
              <a:rPr lang="fr-FR" sz="2400" dirty="0" smtClean="0"/>
              <a:t>. 	</a:t>
            </a:r>
          </a:p>
          <a:p>
            <a:pPr lvl="1" algn="just">
              <a:buNone/>
            </a:pPr>
            <a:r>
              <a:rPr lang="fr-FR" sz="2400" dirty="0" smtClean="0"/>
              <a:t>	</a:t>
            </a:r>
            <a:r>
              <a:rPr lang="fr-FR" dirty="0" smtClean="0"/>
              <a:t>  </a:t>
            </a:r>
            <a:r>
              <a:rPr lang="fr-FR" sz="2400" dirty="0" smtClean="0"/>
              <a:t>-</a:t>
            </a:r>
            <a:r>
              <a:rPr lang="fr-FR" sz="2400" dirty="0" err="1" smtClean="0"/>
              <a:t>eupnéïque</a:t>
            </a:r>
            <a:r>
              <a:rPr lang="fr-FR" sz="2400" dirty="0" smtClean="0"/>
              <a:t> </a:t>
            </a:r>
            <a:r>
              <a:rPr lang="fr-FR" sz="2400" dirty="0" smtClean="0"/>
              <a:t>à 15cpm.		</a:t>
            </a:r>
            <a:endParaRPr lang="fr-FR" dirty="0" smtClean="0"/>
          </a:p>
          <a:p>
            <a:r>
              <a:rPr lang="fr-FR" dirty="0" smtClean="0"/>
              <a:t>Conjonctives normo colorées.</a:t>
            </a:r>
          </a:p>
          <a:p>
            <a:r>
              <a:rPr lang="fr-FR" dirty="0" smtClean="0"/>
              <a:t>Pas d’OMI.</a:t>
            </a:r>
          </a:p>
          <a:p>
            <a:r>
              <a:rPr lang="fr-FR" dirty="0" smtClean="0"/>
              <a:t>Langue propre avec cavité buccale humide.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/>
              <a:t>Examen </a:t>
            </a:r>
            <a:r>
              <a:rPr lang="fr-FR" b="1" u="sng" dirty="0" err="1" smtClean="0"/>
              <a:t>ostéo</a:t>
            </a:r>
            <a:r>
              <a:rPr lang="fr-FR" b="1" u="sng" dirty="0" smtClean="0"/>
              <a:t>-articulaire(1)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fr-FR" b="1" dirty="0" smtClean="0"/>
              <a:t>Signe du Trépied et manœuvre d’écartement-rapprochement des ailes iliaques </a:t>
            </a:r>
            <a:r>
              <a:rPr lang="fr-FR" sz="3000" dirty="0" smtClean="0">
                <a:solidFill>
                  <a:srgbClr val="FF0000"/>
                </a:solidFill>
              </a:rPr>
              <a:t>+</a:t>
            </a:r>
            <a:endParaRPr lang="fr-FR" dirty="0" smtClean="0">
              <a:solidFill>
                <a:srgbClr val="FF0000"/>
              </a:solidFill>
            </a:endParaRPr>
          </a:p>
          <a:p>
            <a:pPr lvl="0"/>
            <a:r>
              <a:rPr lang="fr-FR" b="1" dirty="0" smtClean="0"/>
              <a:t>Manœuvre du Salut coxal </a:t>
            </a:r>
            <a:r>
              <a:rPr lang="fr-FR" sz="3000" b="1" dirty="0" smtClean="0">
                <a:solidFill>
                  <a:srgbClr val="FF0000"/>
                </a:solidFill>
              </a:rPr>
              <a:t>+</a:t>
            </a:r>
            <a:endParaRPr lang="fr-FR" b="1" dirty="0" smtClean="0"/>
          </a:p>
          <a:p>
            <a:r>
              <a:rPr lang="fr-FR" dirty="0" smtClean="0"/>
              <a:t>Rachis: </a:t>
            </a:r>
          </a:p>
          <a:p>
            <a:pPr>
              <a:buNone/>
            </a:pPr>
            <a:r>
              <a:rPr lang="fr-FR" dirty="0" smtClean="0"/>
              <a:t>    - Inspection: rachis droit, pas de courbures pathologiques</a:t>
            </a:r>
          </a:p>
          <a:p>
            <a:pPr lvl="0">
              <a:buNone/>
            </a:pPr>
            <a:r>
              <a:rPr lang="fr-FR" dirty="0" smtClean="0"/>
              <a:t>	-Palpation: apophyses épineuses en place; pas de contracture musculaire. </a:t>
            </a:r>
          </a:p>
          <a:p>
            <a:pPr lvl="0">
              <a:buNone/>
            </a:pPr>
            <a:r>
              <a:rPr lang="fr-FR" dirty="0" smtClean="0"/>
              <a:t>	-Douleur de l’extrémité inférieure du gril costal lors de la mobilisation du rachis cervical avec ampliation thoracique normale</a:t>
            </a:r>
          </a:p>
          <a:p>
            <a:pPr lvl="0">
              <a:buNone/>
            </a:pPr>
            <a:r>
              <a:rPr lang="fr-FR" dirty="0" smtClean="0"/>
              <a:t>	-Indice de </a:t>
            </a:r>
            <a:r>
              <a:rPr lang="fr-FR" dirty="0" err="1" smtClean="0"/>
              <a:t>Schöber</a:t>
            </a:r>
            <a:r>
              <a:rPr lang="fr-FR" dirty="0" smtClean="0"/>
              <a:t> : 10+3 cm.</a:t>
            </a:r>
          </a:p>
          <a:p>
            <a:pPr>
              <a:buNone/>
            </a:pPr>
            <a:r>
              <a:rPr lang="fr-FR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918418"/>
          </a:xfrm>
        </p:spPr>
        <p:txBody>
          <a:bodyPr/>
          <a:lstStyle/>
          <a:p>
            <a:r>
              <a:rPr lang="fr-FR" b="1" u="sng" dirty="0" smtClean="0"/>
              <a:t>Examen </a:t>
            </a:r>
            <a:r>
              <a:rPr lang="fr-FR" b="1" u="sng" dirty="0" err="1" smtClean="0"/>
              <a:t>ostéo</a:t>
            </a:r>
            <a:r>
              <a:rPr lang="fr-FR" b="1" u="sng" dirty="0" smtClean="0"/>
              <a:t>-articulaire(2):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928802"/>
            <a:ext cx="8229600" cy="5429288"/>
          </a:xfrm>
        </p:spPr>
        <p:txBody>
          <a:bodyPr>
            <a:normAutofit/>
          </a:bodyPr>
          <a:lstStyle/>
          <a:p>
            <a:r>
              <a:rPr lang="fr-FR" dirty="0" smtClean="0"/>
              <a:t>Articulations périphériques: </a:t>
            </a:r>
          </a:p>
          <a:p>
            <a:pPr>
              <a:buNone/>
            </a:pPr>
            <a:r>
              <a:rPr lang="fr-FR" dirty="0" smtClean="0"/>
              <a:t>    - Inspection: pas de déformation; pas de signes locaux d’inflammation. </a:t>
            </a:r>
          </a:p>
          <a:p>
            <a:pPr>
              <a:buNone/>
            </a:pPr>
            <a:r>
              <a:rPr lang="fr-FR" dirty="0" smtClean="0"/>
              <a:t>    - Mobilisation: active et passive conservées, non douloureuses. 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   - Palpation: Pas de douleurs à la palpation des petites, moyennes et grosses articulations.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smtClean="0"/>
              <a:t>Examen neurologique: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 smtClean="0"/>
              <a:t>Marche normale, station debout correcte</a:t>
            </a:r>
          </a:p>
          <a:p>
            <a:pPr lvl="0"/>
            <a:r>
              <a:rPr lang="fr-FR" dirty="0" smtClean="0"/>
              <a:t>Tient le Barré  et le </a:t>
            </a:r>
            <a:r>
              <a:rPr lang="fr-FR" dirty="0" err="1" smtClean="0"/>
              <a:t>Mengazzini</a:t>
            </a:r>
            <a:r>
              <a:rPr lang="fr-FR" dirty="0" smtClean="0"/>
              <a:t>. </a:t>
            </a:r>
          </a:p>
          <a:p>
            <a:pPr lvl="0"/>
            <a:r>
              <a:rPr lang="fr-FR" dirty="0" smtClean="0"/>
              <a:t>Forces musculaires segmentaires et globales conservées à 5/5</a:t>
            </a:r>
          </a:p>
          <a:p>
            <a:pPr lvl="0"/>
            <a:r>
              <a:rPr lang="fr-FR" dirty="0" smtClean="0"/>
              <a:t>Sensibilité superficielle et profonde conservée</a:t>
            </a:r>
          </a:p>
          <a:p>
            <a:r>
              <a:rPr lang="fr-FR" dirty="0" smtClean="0"/>
              <a:t>ROT  normaux et RCP en flexion</a:t>
            </a:r>
          </a:p>
          <a:p>
            <a:r>
              <a:rPr lang="fr-FR" dirty="0" smtClean="0"/>
              <a:t>Examen des paires crâniennes: normal.</a:t>
            </a:r>
          </a:p>
          <a:p>
            <a:r>
              <a:rPr lang="fr-FR" dirty="0" smtClean="0"/>
              <a:t>Fonctions supérieures (Langage oral, Mémoire, Praxies) conservées.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00132"/>
          </a:xfrm>
        </p:spPr>
        <p:txBody>
          <a:bodyPr/>
          <a:lstStyle/>
          <a:p>
            <a:r>
              <a:rPr lang="fr-FR" b="1" u="sng" dirty="0" smtClean="0"/>
              <a:t>Examen cardio-vasculaire: 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142984"/>
            <a:ext cx="8229600" cy="5715016"/>
          </a:xfrm>
        </p:spPr>
        <p:txBody>
          <a:bodyPr>
            <a:normAutofit/>
          </a:bodyPr>
          <a:lstStyle/>
          <a:p>
            <a:r>
              <a:rPr lang="fr-FR" dirty="0" smtClean="0"/>
              <a:t>Inspection: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-Thorax symétrique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Pas de Turgescence des veines jugulaires.</a:t>
            </a:r>
          </a:p>
          <a:p>
            <a:r>
              <a:rPr lang="fr-FR" dirty="0" smtClean="0"/>
              <a:t>Palpation: 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Pouls périphériques symétriques et bien perçus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Choc de pointe punctiforme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Signe de </a:t>
            </a:r>
            <a:r>
              <a:rPr lang="fr-FR" dirty="0" err="1" smtClean="0"/>
              <a:t>Harzer</a:t>
            </a:r>
            <a:r>
              <a:rPr lang="fr-FR" dirty="0" smtClean="0"/>
              <a:t> négatif</a:t>
            </a:r>
          </a:p>
          <a:p>
            <a:r>
              <a:rPr lang="fr-FR" dirty="0" smtClean="0"/>
              <a:t>Auscultation: </a:t>
            </a:r>
          </a:p>
          <a:p>
            <a:pPr>
              <a:buNone/>
            </a:pPr>
            <a:r>
              <a:rPr lang="fr-FR" dirty="0" smtClean="0"/>
              <a:t> - B1 et B2 libres et bien perçus aux 4 foyers pulmonaires 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Pas de souffles ni de bruits surajoutés</a:t>
            </a:r>
          </a:p>
          <a:p>
            <a:pPr>
              <a:buNone/>
            </a:pP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b="1" u="sng" dirty="0" smtClean="0"/>
              <a:t>Examen pleuro-pulmonaire: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fr-FR" dirty="0" smtClean="0"/>
              <a:t> Inspection: 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Pas de Cyanose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Pas d’Hippocratisme digital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Pas de Circulation collatérale </a:t>
            </a:r>
          </a:p>
          <a:p>
            <a:r>
              <a:rPr lang="fr-FR" dirty="0" smtClean="0"/>
              <a:t>Palpation:</a:t>
            </a:r>
          </a:p>
          <a:p>
            <a:pPr>
              <a:buNone/>
            </a:pPr>
            <a:r>
              <a:rPr lang="fr-FR" dirty="0"/>
              <a:t>  </a:t>
            </a:r>
            <a:r>
              <a:rPr lang="fr-FR" dirty="0" smtClean="0"/>
              <a:t>VV bien transmises aux 2 champs pulmonaires</a:t>
            </a:r>
          </a:p>
          <a:p>
            <a:r>
              <a:rPr lang="fr-FR" dirty="0" smtClean="0"/>
              <a:t>Percussion: 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 Pas de matité ni d’hyper tympanisme</a:t>
            </a:r>
          </a:p>
          <a:p>
            <a:r>
              <a:rPr lang="fr-FR" dirty="0" smtClean="0"/>
              <a:t>Auscultation: </a:t>
            </a:r>
          </a:p>
          <a:p>
            <a:pPr lvl="0">
              <a:buNone/>
            </a:pPr>
            <a:r>
              <a:rPr lang="fr-FR" dirty="0"/>
              <a:t> </a:t>
            </a:r>
            <a:r>
              <a:rPr lang="fr-FR" b="1" dirty="0" smtClean="0"/>
              <a:t>Présence de râles </a:t>
            </a:r>
            <a:r>
              <a:rPr lang="fr-FR" b="1" dirty="0" err="1" smtClean="0"/>
              <a:t>crépitants</a:t>
            </a:r>
            <a:r>
              <a:rPr lang="fr-FR" b="1" dirty="0" smtClean="0"/>
              <a:t> </a:t>
            </a:r>
            <a:r>
              <a:rPr lang="fr-FR" b="1" dirty="0" smtClean="0"/>
              <a:t>prédominant au niveau de l’</a:t>
            </a:r>
            <a:r>
              <a:rPr lang="fr-FR" b="1" dirty="0" err="1" smtClean="0"/>
              <a:t>hémithorax</a:t>
            </a:r>
            <a:r>
              <a:rPr lang="fr-FR" b="1" dirty="0" smtClean="0"/>
              <a:t> droit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b="1" u="sng" dirty="0" smtClean="0"/>
              <a:t>Examen abdominal: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715040"/>
          </a:xfrm>
        </p:spPr>
        <p:txBody>
          <a:bodyPr>
            <a:normAutofit/>
          </a:bodyPr>
          <a:lstStyle/>
          <a:p>
            <a:r>
              <a:rPr lang="fr-FR" dirty="0" smtClean="0"/>
              <a:t>Inspection: 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Abdomen souple et non distendu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Pas de voussure; pas de cicatrices 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Pas de circulation collatérale</a:t>
            </a:r>
          </a:p>
          <a:p>
            <a:r>
              <a:rPr lang="fr-FR" dirty="0" smtClean="0"/>
              <a:t> Palpation: </a:t>
            </a:r>
          </a:p>
          <a:p>
            <a:pPr>
              <a:buNone/>
            </a:pPr>
            <a:r>
              <a:rPr lang="fr-FR" dirty="0" smtClean="0"/>
              <a:t> - Pas de Sensibilité, ni Défense, ni Contracture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- Pas de masse palpable ni d’HSPM</a:t>
            </a:r>
          </a:p>
          <a:p>
            <a:pPr>
              <a:buNone/>
            </a:pPr>
            <a:r>
              <a:rPr lang="fr-FR" dirty="0" smtClean="0"/>
              <a:t> - Pas de reflux hépato-jugulaire</a:t>
            </a:r>
          </a:p>
          <a:p>
            <a:pPr>
              <a:buNone/>
            </a:pPr>
            <a:r>
              <a:rPr lang="fr-FR" dirty="0" smtClean="0"/>
              <a:t> - Orifices herniaires: libres</a:t>
            </a:r>
          </a:p>
          <a:p>
            <a:r>
              <a:rPr lang="fr-FR" dirty="0" smtClean="0"/>
              <a:t>Percussion: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Pas de Matité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642918"/>
            <a:ext cx="8229600" cy="928686"/>
          </a:xfrm>
        </p:spPr>
        <p:txBody>
          <a:bodyPr>
            <a:normAutofit/>
          </a:bodyPr>
          <a:lstStyle/>
          <a:p>
            <a:r>
              <a:rPr lang="fr-FR" b="1" u="sng" dirty="0" smtClean="0"/>
              <a:t>Examen </a:t>
            </a:r>
            <a:r>
              <a:rPr lang="fr-FR" b="1" u="sng" dirty="0" err="1" smtClean="0"/>
              <a:t>cutaneo</a:t>
            </a:r>
            <a:r>
              <a:rPr lang="fr-FR" b="1" u="sng" dirty="0" smtClean="0"/>
              <a:t>-muqueux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Pas d’érythème, ni de squames, ni de prurit.</a:t>
            </a:r>
          </a:p>
          <a:p>
            <a:r>
              <a:rPr lang="fr-FR" dirty="0" smtClean="0"/>
              <a:t>Pas d’alopécie ni autres troubles </a:t>
            </a:r>
            <a:r>
              <a:rPr lang="fr-FR" dirty="0" err="1" smtClean="0"/>
              <a:t>phanériens</a:t>
            </a:r>
            <a:r>
              <a:rPr lang="fr-FR" dirty="0" smtClean="0"/>
              <a:t>.</a:t>
            </a:r>
          </a:p>
          <a:p>
            <a:r>
              <a:rPr lang="fr-FR" dirty="0" smtClean="0"/>
              <a:t>Pas de troubles vasomoteurs des extrémités. 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		</a:t>
            </a:r>
            <a:r>
              <a:rPr lang="fr-FR" sz="4000" b="1" u="sng" dirty="0" smtClean="0"/>
              <a:t>Examen des aires ganglionnaires:</a:t>
            </a:r>
          </a:p>
          <a:p>
            <a:pPr>
              <a:buNone/>
            </a:pPr>
            <a:endParaRPr lang="fr-FR" sz="1900" dirty="0" smtClean="0"/>
          </a:p>
          <a:p>
            <a:pPr>
              <a:buNone/>
            </a:pPr>
            <a:r>
              <a:rPr lang="fr-FR" sz="1900" dirty="0" smtClean="0"/>
              <a:t>●</a:t>
            </a:r>
            <a:r>
              <a:rPr lang="fr-FR" dirty="0" smtClean="0"/>
              <a:t> Les aires ganglionnaires sont libres. 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 smtClean="0"/>
          </a:p>
          <a:p>
            <a:pPr algn="ctr">
              <a:spcBef>
                <a:spcPct val="0"/>
              </a:spcBef>
              <a:buNone/>
            </a:pPr>
            <a:r>
              <a:rPr lang="fr-FR" dirty="0" smtClean="0"/>
              <a:t>.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356"/>
            <a:ext cx="8258204" cy="642942"/>
          </a:xfrm>
        </p:spPr>
        <p:txBody>
          <a:bodyPr>
            <a:normAutofit fontScale="90000"/>
          </a:bodyPr>
          <a:lstStyle/>
          <a:p>
            <a:r>
              <a:rPr lang="fr-FR" b="1" u="sng" dirty="0" smtClean="0"/>
              <a:t>Conclusion clinique</a:t>
            </a:r>
            <a:endParaRPr lang="fr-FR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5143536"/>
          </a:xfrm>
        </p:spPr>
        <p:txBody>
          <a:bodyPr>
            <a:noAutofit/>
          </a:bodyPr>
          <a:lstStyle/>
          <a:p>
            <a:pPr lvl="0"/>
            <a:r>
              <a:rPr lang="fr-FR" sz="2400" dirty="0" smtClean="0"/>
              <a:t>Patient âgé de 36 ans ayant comme ATCD </a:t>
            </a:r>
            <a:r>
              <a:rPr lang="fr-FR" sz="2400" b="1" dirty="0" smtClean="0"/>
              <a:t>2 épisodes d’uvéite antérieure et une SPA sous traitement AINS avec un tabagisme actif à 9PA</a:t>
            </a:r>
            <a:r>
              <a:rPr lang="fr-FR" sz="2400" dirty="0" smtClean="0"/>
              <a:t>, qui consulte pour des </a:t>
            </a:r>
            <a:r>
              <a:rPr lang="fr-FR" sz="2400" dirty="0" err="1" smtClean="0"/>
              <a:t>polyarthralgies</a:t>
            </a:r>
            <a:r>
              <a:rPr lang="fr-FR" sz="2400" dirty="0" smtClean="0"/>
              <a:t> migratrices à prédominance lombaire et chez qui l’examen clinique objective </a:t>
            </a:r>
            <a:r>
              <a:rPr lang="fr-FR" sz="2400" b="1" dirty="0" smtClean="0"/>
              <a:t>Signe du Trépied et manœuvre d’écartement-rapprochement des ailes iliaques </a:t>
            </a:r>
            <a:r>
              <a:rPr lang="fr-FR" sz="2400" b="1" dirty="0" smtClean="0">
                <a:solidFill>
                  <a:srgbClr val="FF0000"/>
                </a:solidFill>
              </a:rPr>
              <a:t>+</a:t>
            </a:r>
            <a:r>
              <a:rPr lang="fr-FR" sz="2400" dirty="0" smtClean="0"/>
              <a:t>,</a:t>
            </a:r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 smtClean="0"/>
              <a:t>Manœuvre du Salut coxal </a:t>
            </a:r>
            <a:r>
              <a:rPr lang="fr-FR" sz="2400" b="1" dirty="0" smtClean="0">
                <a:solidFill>
                  <a:srgbClr val="FF0000"/>
                </a:solidFill>
              </a:rPr>
              <a:t>+</a:t>
            </a:r>
            <a:r>
              <a:rPr lang="fr-FR" sz="2400" dirty="0" smtClean="0"/>
              <a:t> indice de </a:t>
            </a:r>
            <a:r>
              <a:rPr lang="fr-FR" sz="2400" dirty="0" err="1" smtClean="0"/>
              <a:t>Schöber</a:t>
            </a:r>
            <a:r>
              <a:rPr lang="fr-FR" sz="2400" dirty="0" smtClean="0"/>
              <a:t> normal ainsi que </a:t>
            </a:r>
            <a:r>
              <a:rPr lang="fr-FR" sz="2400" b="1" dirty="0" smtClean="0"/>
              <a:t>des râles </a:t>
            </a:r>
            <a:r>
              <a:rPr lang="fr-FR" sz="2400" b="1" dirty="0" err="1" smtClean="0"/>
              <a:t>crépitants</a:t>
            </a:r>
            <a:r>
              <a:rPr lang="fr-FR" sz="2400" b="1" dirty="0" smtClean="0"/>
              <a:t> prédominant </a:t>
            </a:r>
            <a:r>
              <a:rPr lang="fr-FR" sz="2400" b="1" dirty="0" smtClean="0"/>
              <a:t>au niveau de l’</a:t>
            </a:r>
            <a:r>
              <a:rPr lang="fr-FR" sz="2400" b="1" dirty="0" err="1" smtClean="0"/>
              <a:t>hémithorax</a:t>
            </a:r>
            <a:r>
              <a:rPr lang="fr-FR" sz="2400" b="1" dirty="0" smtClean="0"/>
              <a:t> droit</a:t>
            </a:r>
            <a:r>
              <a:rPr lang="fr-FR" sz="2400" dirty="0" smtClean="0"/>
              <a:t> ; avec le reste de l’examen clinique normal. Le tout évoluant dans un contexte d’apyrexie et de CEG.</a:t>
            </a:r>
          </a:p>
          <a:p>
            <a:pPr>
              <a:buNone/>
            </a:pPr>
            <a:endParaRPr lang="fr-FR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857916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		Le Patient est venu avec un bilan :</a:t>
            </a:r>
          </a:p>
          <a:p>
            <a:pPr lvl="0"/>
            <a:r>
              <a:rPr lang="fr-FR" dirty="0" smtClean="0"/>
              <a:t> Radio lombaire et de la hanche : normales</a:t>
            </a:r>
          </a:p>
          <a:p>
            <a:pPr lvl="0"/>
            <a:r>
              <a:rPr lang="fr-FR" dirty="0" smtClean="0"/>
              <a:t>Radio du bassin et des sacro-iliaques : Discret pincement de l’interligne articulaire droite.</a:t>
            </a:r>
          </a:p>
          <a:p>
            <a:pPr lvl="0"/>
            <a:r>
              <a:rPr lang="fr-FR" dirty="0" smtClean="0"/>
              <a:t>Dosage du </a:t>
            </a:r>
            <a:r>
              <a:rPr lang="fr-FR" dirty="0" err="1" smtClean="0"/>
              <a:t>Quantiféron</a:t>
            </a:r>
            <a:r>
              <a:rPr lang="fr-FR" dirty="0" smtClean="0"/>
              <a:t> : </a:t>
            </a:r>
            <a:r>
              <a:rPr lang="fr-FR" sz="2800" b="1" dirty="0" smtClean="0">
                <a:solidFill>
                  <a:srgbClr val="FF0000"/>
                </a:solidFill>
              </a:rPr>
              <a:t>+</a:t>
            </a:r>
            <a:endParaRPr lang="fr-FR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fr-FR" dirty="0" smtClean="0"/>
              <a:t>			</a:t>
            </a:r>
          </a:p>
          <a:p>
            <a:pPr>
              <a:buNone/>
            </a:pPr>
            <a:r>
              <a:rPr lang="fr-FR" dirty="0" smtClean="0"/>
              <a:t>			</a:t>
            </a:r>
            <a:r>
              <a:rPr lang="fr-FR" sz="3600" dirty="0" smtClean="0"/>
              <a:t> </a:t>
            </a:r>
            <a:r>
              <a:rPr lang="fr-FR" sz="3600" dirty="0" smtClean="0">
                <a:solidFill>
                  <a:schemeClr val="accent3"/>
                </a:solidFill>
              </a:rPr>
              <a:t> </a:t>
            </a:r>
            <a:r>
              <a:rPr lang="fr-FR" sz="3600" b="1" u="sng" dirty="0" smtClean="0">
                <a:solidFill>
                  <a:schemeClr val="accent3"/>
                </a:solidFill>
              </a:rPr>
              <a:t>CAT</a:t>
            </a:r>
            <a:r>
              <a:rPr lang="fr-FR" sz="3600" dirty="0" smtClean="0">
                <a:solidFill>
                  <a:schemeClr val="accent3"/>
                </a:solidFill>
              </a:rPr>
              <a:t> </a:t>
            </a:r>
            <a:r>
              <a:rPr lang="fr-FR" dirty="0" smtClean="0"/>
              <a:t>(Pr. </a:t>
            </a:r>
            <a:r>
              <a:rPr lang="fr-FR" dirty="0" err="1" smtClean="0"/>
              <a:t>Zahlane</a:t>
            </a:r>
            <a:r>
              <a:rPr lang="fr-FR" dirty="0" smtClean="0"/>
              <a:t>) :</a:t>
            </a:r>
          </a:p>
          <a:p>
            <a:pPr>
              <a:buNone/>
            </a:pPr>
            <a:endParaRPr lang="fr-FR" dirty="0" smtClean="0"/>
          </a:p>
          <a:p>
            <a:pPr lvl="0"/>
            <a:r>
              <a:rPr lang="fr-FR" dirty="0" smtClean="0"/>
              <a:t>Adresser le malade au CDST pour traitement anti bacillaire pendant 2 mois. </a:t>
            </a:r>
          </a:p>
          <a:p>
            <a:pPr lvl="0"/>
            <a:r>
              <a:rPr lang="fr-FR" dirty="0" smtClean="0"/>
              <a:t>Revoir dans 2 semaines pour dossier.</a:t>
            </a:r>
          </a:p>
          <a:p>
            <a:pPr lvl="0"/>
            <a:r>
              <a:rPr lang="fr-FR" dirty="0" smtClean="0"/>
              <a:t>Traitement proposé : </a:t>
            </a:r>
            <a:r>
              <a:rPr lang="fr-FR" dirty="0" err="1" smtClean="0"/>
              <a:t>Adalimumab</a:t>
            </a:r>
            <a:r>
              <a:rPr lang="fr-FR" dirty="0" smtClean="0"/>
              <a:t> (</a:t>
            </a:r>
            <a:r>
              <a:rPr lang="fr-FR" dirty="0" err="1" smtClean="0"/>
              <a:t>Humira</a:t>
            </a:r>
            <a:r>
              <a:rPr lang="fr-FR" dirty="0" smtClean="0"/>
              <a:t>®).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357430"/>
            <a:ext cx="8229600" cy="1500198"/>
          </a:xfrm>
        </p:spPr>
        <p:txBody>
          <a:bodyPr/>
          <a:lstStyle/>
          <a:p>
            <a:pPr algn="ctr"/>
            <a:r>
              <a:rPr lang="fr-FR" dirty="0" smtClean="0"/>
              <a:t>TRAITEMENTS DE LA SPA</a:t>
            </a:r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8229600" cy="1143000"/>
          </a:xfrm>
        </p:spPr>
        <p:txBody>
          <a:bodyPr/>
          <a:lstStyle/>
          <a:p>
            <a:pPr algn="ctr"/>
            <a:r>
              <a:rPr lang="fr-FR" dirty="0" smtClean="0"/>
              <a:t>OBJECTIFS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Soulager la symptomatologie du Patient</a:t>
            </a:r>
          </a:p>
          <a:p>
            <a:r>
              <a:rPr lang="fr-FR" dirty="0" smtClean="0"/>
              <a:t>Corriger ou minimiser les déformations vertébrales et articulaires</a:t>
            </a:r>
          </a:p>
          <a:p>
            <a:r>
              <a:rPr lang="fr-FR" dirty="0" smtClean="0"/>
              <a:t>Améliorer la qualité de vie</a:t>
            </a:r>
          </a:p>
          <a:p>
            <a:r>
              <a:rPr lang="fr-FR" dirty="0" smtClean="0"/>
              <a:t>Eviter le retentissement </a:t>
            </a:r>
            <a:r>
              <a:rPr lang="fr-FR" dirty="0" smtClean="0"/>
              <a:t>socioprofessionnel</a:t>
            </a:r>
            <a:endParaRPr lang="fr-FR" dirty="0" smtClean="0"/>
          </a:p>
          <a:p>
            <a:r>
              <a:rPr lang="fr-FR" dirty="0" smtClean="0"/>
              <a:t>Prévenir et traiter les effets secondaires </a:t>
            </a:r>
            <a:r>
              <a:rPr lang="fr-FR" dirty="0" smtClean="0"/>
              <a:t>dus </a:t>
            </a:r>
            <a:r>
              <a:rPr lang="fr-FR" dirty="0" smtClean="0"/>
              <a:t>au traitement.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5720" y="500042"/>
            <a:ext cx="8229600" cy="928686"/>
          </a:xfrm>
        </p:spPr>
        <p:txBody>
          <a:bodyPr/>
          <a:lstStyle/>
          <a:p>
            <a:pPr algn="ctr"/>
            <a:r>
              <a:rPr lang="fr-FR" dirty="0" smtClean="0"/>
              <a:t>Moyens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4389120"/>
          </a:xfrm>
        </p:spPr>
        <p:txBody>
          <a:bodyPr/>
          <a:lstStyle/>
          <a:p>
            <a:r>
              <a:rPr lang="fr-FR" dirty="0" smtClean="0"/>
              <a:t>AINS</a:t>
            </a:r>
          </a:p>
          <a:p>
            <a:r>
              <a:rPr lang="fr-FR" dirty="0" smtClean="0"/>
              <a:t>INJECTIONS DE CORTICOÏDES </a:t>
            </a:r>
          </a:p>
          <a:p>
            <a:r>
              <a:rPr lang="fr-FR" dirty="0" err="1" smtClean="0"/>
              <a:t>DMARDs</a:t>
            </a:r>
            <a:r>
              <a:rPr lang="fr-FR" dirty="0" smtClean="0"/>
              <a:t>: SULFASALAZINE (</a:t>
            </a:r>
            <a:r>
              <a:rPr lang="fr-FR" dirty="0" err="1" smtClean="0"/>
              <a:t>Salazopyrine</a:t>
            </a:r>
            <a:r>
              <a:rPr lang="fr-FR" dirty="0" smtClean="0"/>
              <a:t>®), METHOTREXATE, LEFLUNOMIDE(</a:t>
            </a:r>
            <a:r>
              <a:rPr lang="fr-FR" dirty="0" err="1" smtClean="0"/>
              <a:t>Arava</a:t>
            </a:r>
            <a:r>
              <a:rPr lang="fr-FR" dirty="0" smtClean="0"/>
              <a:t>®), BOLUS DE SOLUMEDROL, BIPHOSPHONATES</a:t>
            </a:r>
          </a:p>
          <a:p>
            <a:r>
              <a:rPr lang="fr-FR" dirty="0" smtClean="0"/>
              <a:t>BIOTHERAPIES:  ANTI-TNF</a:t>
            </a:r>
            <a:r>
              <a:rPr lang="el-GR" dirty="0" smtClean="0"/>
              <a:t>α</a:t>
            </a:r>
            <a:r>
              <a:rPr lang="fr-FR" dirty="0" smtClean="0"/>
              <a:t> (</a:t>
            </a:r>
            <a:r>
              <a:rPr lang="fr-FR" dirty="0" err="1" smtClean="0"/>
              <a:t>infliximab</a:t>
            </a:r>
            <a:r>
              <a:rPr lang="fr-FR" dirty="0" smtClean="0"/>
              <a:t>, </a:t>
            </a:r>
            <a:r>
              <a:rPr lang="fr-FR" dirty="0" err="1" smtClean="0"/>
              <a:t>adalimumab</a:t>
            </a:r>
            <a:r>
              <a:rPr lang="fr-FR" dirty="0" smtClean="0"/>
              <a:t>, </a:t>
            </a:r>
            <a:r>
              <a:rPr lang="fr-FR" dirty="0" err="1" smtClean="0"/>
              <a:t>golimumab</a:t>
            </a:r>
            <a:r>
              <a:rPr lang="fr-FR" dirty="0" smtClean="0"/>
              <a:t>, </a:t>
            </a:r>
            <a:r>
              <a:rPr lang="fr-FR" dirty="0" err="1" smtClean="0"/>
              <a:t>étanercept</a:t>
            </a:r>
            <a:r>
              <a:rPr lang="fr-FR" dirty="0" smtClean="0"/>
              <a:t>).</a:t>
            </a:r>
          </a:p>
          <a:p>
            <a:r>
              <a:rPr lang="fr-FR" dirty="0" smtClean="0"/>
              <a:t>KINÉSITHÉRAPIE</a:t>
            </a:r>
          </a:p>
          <a:p>
            <a:r>
              <a:rPr lang="fr-FR" dirty="0" smtClean="0"/>
              <a:t>ACTIVITE PHYSIQUE ET EDUCATION DU PATIENT.</a:t>
            </a:r>
            <a:endParaRPr 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5720" y="428604"/>
            <a:ext cx="8229600" cy="928686"/>
          </a:xfrm>
        </p:spPr>
        <p:txBody>
          <a:bodyPr/>
          <a:lstStyle/>
          <a:p>
            <a:pPr algn="ctr"/>
            <a:r>
              <a:rPr lang="fr-FR" dirty="0" smtClean="0"/>
              <a:t>INDICATIONS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24426"/>
          </a:xfrm>
        </p:spPr>
        <p:txBody>
          <a:bodyPr/>
          <a:lstStyle/>
          <a:p>
            <a:r>
              <a:rPr lang="fr-FR" b="1" dirty="0" smtClean="0">
                <a:solidFill>
                  <a:schemeClr val="accent3"/>
                </a:solidFill>
              </a:rPr>
              <a:t>En 1</a:t>
            </a:r>
            <a:r>
              <a:rPr lang="fr-FR" b="1" baseline="30000" dirty="0" smtClean="0">
                <a:solidFill>
                  <a:schemeClr val="accent3"/>
                </a:solidFill>
              </a:rPr>
              <a:t>ère</a:t>
            </a:r>
            <a:r>
              <a:rPr lang="fr-FR" b="1" dirty="0" smtClean="0">
                <a:solidFill>
                  <a:schemeClr val="accent3"/>
                </a:solidFill>
              </a:rPr>
              <a:t> intention</a:t>
            </a:r>
            <a:r>
              <a:rPr lang="fr-FR" dirty="0" smtClean="0"/>
              <a:t>: </a:t>
            </a:r>
            <a:r>
              <a:rPr lang="fr-FR" b="1" dirty="0" smtClean="0">
                <a:solidFill>
                  <a:srgbClr val="FF0000"/>
                </a:solidFill>
              </a:rPr>
              <a:t>AINS</a:t>
            </a:r>
            <a:r>
              <a:rPr lang="fr-FR" dirty="0" smtClean="0"/>
              <a:t> à dose optimale tolérée en utilisation continue associées à un protecteur gastrique + </a:t>
            </a:r>
            <a:r>
              <a:rPr lang="fr-FR" dirty="0" smtClean="0">
                <a:solidFill>
                  <a:srgbClr val="FF0000"/>
                </a:solidFill>
              </a:rPr>
              <a:t>Kinésithérapie</a:t>
            </a:r>
            <a:r>
              <a:rPr lang="fr-FR" dirty="0" smtClean="0"/>
              <a:t> et mesures associées(activité physique, éducation du patient). On peut y associer les injections locales de corticoïdes pour soulager les arthrites et les </a:t>
            </a:r>
            <a:r>
              <a:rPr lang="fr-FR" dirty="0" err="1" smtClean="0"/>
              <a:t>enthésites</a:t>
            </a:r>
            <a:r>
              <a:rPr lang="fr-FR" dirty="0" smtClean="0"/>
              <a:t>.</a:t>
            </a:r>
          </a:p>
          <a:p>
            <a:pPr>
              <a:buNone/>
            </a:pPr>
            <a:endParaRPr lang="fr-FR" dirty="0" smtClean="0"/>
          </a:p>
          <a:p>
            <a:r>
              <a:rPr lang="fr-FR" b="1" dirty="0" smtClean="0">
                <a:solidFill>
                  <a:schemeClr val="accent3"/>
                </a:solidFill>
              </a:rPr>
              <a:t>En 2</a:t>
            </a:r>
            <a:r>
              <a:rPr lang="fr-FR" b="1" baseline="30000" dirty="0" smtClean="0">
                <a:solidFill>
                  <a:schemeClr val="accent3"/>
                </a:solidFill>
              </a:rPr>
              <a:t>ème</a:t>
            </a:r>
            <a:r>
              <a:rPr lang="fr-FR" b="1" dirty="0" smtClean="0">
                <a:solidFill>
                  <a:schemeClr val="accent3"/>
                </a:solidFill>
              </a:rPr>
              <a:t> intention </a:t>
            </a:r>
            <a:r>
              <a:rPr lang="fr-FR" dirty="0" smtClean="0"/>
              <a:t>(si échec des AINS ou intolérance): </a:t>
            </a:r>
            <a:r>
              <a:rPr lang="fr-FR" b="1" dirty="0" smtClean="0">
                <a:solidFill>
                  <a:srgbClr val="FF0000"/>
                </a:solidFill>
              </a:rPr>
              <a:t>DMARDS</a:t>
            </a:r>
            <a:r>
              <a:rPr lang="fr-FR" dirty="0" smtClean="0"/>
              <a:t> (uniquement indiqués en cas de forme périphérique) / </a:t>
            </a:r>
            <a:r>
              <a:rPr lang="fr-FR" b="1" dirty="0" smtClean="0">
                <a:solidFill>
                  <a:srgbClr val="FF0000"/>
                </a:solidFill>
              </a:rPr>
              <a:t>Biothérapies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1538" y="571480"/>
            <a:ext cx="6872310" cy="285752"/>
          </a:xfrm>
        </p:spPr>
        <p:txBody>
          <a:bodyPr>
            <a:no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Critères </a:t>
            </a:r>
            <a:r>
              <a:rPr lang="fr-FR" sz="2400" b="1" dirty="0" smtClean="0">
                <a:solidFill>
                  <a:srgbClr val="FF0000"/>
                </a:solidFill>
              </a:rPr>
              <a:t>d’emploi d’un traitement par anti-TNFα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00108"/>
            <a:ext cx="7671477" cy="574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648</Words>
  <Application>Microsoft Office PowerPoint</Application>
  <PresentationFormat>Affichage à l'écran (4:3)</PresentationFormat>
  <Paragraphs>135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Débit</vt:lpstr>
      <vt:lpstr>Observation médicale  </vt:lpstr>
      <vt:lpstr>Identité:</vt:lpstr>
      <vt:lpstr>Motif de consultation:</vt:lpstr>
      <vt:lpstr>Antécédents: </vt:lpstr>
      <vt:lpstr>Histoire de la maladie:</vt:lpstr>
      <vt:lpstr>Examen général:</vt:lpstr>
      <vt:lpstr>Examen ostéo-articulaire(1)</vt:lpstr>
      <vt:lpstr>Examen ostéo-articulaire(2):</vt:lpstr>
      <vt:lpstr>Examen neurologique:</vt:lpstr>
      <vt:lpstr>Examen cardio-vasculaire: </vt:lpstr>
      <vt:lpstr>Examen pleuro-pulmonaire:</vt:lpstr>
      <vt:lpstr>Examen abdominal:</vt:lpstr>
      <vt:lpstr>Examen cutaneo-muqueux</vt:lpstr>
      <vt:lpstr>Conclusion clinique</vt:lpstr>
      <vt:lpstr>Diapositive 15</vt:lpstr>
      <vt:lpstr>TRAITEMENTS DE LA SPA</vt:lpstr>
      <vt:lpstr>OBJECTIFS</vt:lpstr>
      <vt:lpstr>Moyens</vt:lpstr>
      <vt:lpstr>INDICATIONS</vt:lpstr>
      <vt:lpstr> Critères d’emploi d’un traitement par anti-TNFα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 médicale</dc:title>
  <dc:creator>user</dc:creator>
  <cp:lastModifiedBy>scmint</cp:lastModifiedBy>
  <cp:revision>11</cp:revision>
  <dcterms:created xsi:type="dcterms:W3CDTF">2017-11-20T00:33:01Z</dcterms:created>
  <dcterms:modified xsi:type="dcterms:W3CDTF">2018-01-19T13:40:24Z</dcterms:modified>
</cp:coreProperties>
</file>